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de l'audit complet avant lancement des publicites.
 25+ modules ont ete systematiquement audites.
 7 bugs critiques ont ete identifies et corriges.
 Aucune faille critique ne reste ouverte.
 L'application est deployee en production et prete.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Vue d'ensemble avec les 4 KPIs principaux de l'audit.
 25+ modules testes couvrant toute l'application.
 7 bugs critiques trouves et tous corriges.
 Architecture Next.js 16 avec Prisma ORM et JWT.
 4 roles d'utilisateurs avec isolation par companyId.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bugs corriges dont 3 critiques sur l'exposition de la config AI aux non-admins.
 Les 3 bugs critiques concernent tous l'exposition d'apiKey et aiConfig aux roles non-admin.
 3 bugs haute severite sur les guards d'acces et les transactions DB.
 1 bug moyenne severite sur l'ajout du support multimodal.
 Tous les correctifs sont deployes en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 est le module le plus robuste, avec rate limiting, 2FA conforme RFC 6238, et fallback DB-free.
 Le rate limiting est de 5 tentatives par 60s pour le login et 10 par heure pour le register.
 bcrypt cost 12 offre une bonne protection contre le brute force.
 Le fallback DB-free avec comptes hardcodes permet le premier deploiement sans DB.
 La 2FA utilise TOTP RFC 6238 avec 8 backup codes.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Le module Telegram est le plus critique de l'application
 • 3 bugs critiques corrigés sur l'exposition de la config AI aux non-admins
 • Toutes les routes sont maintenant protégées par des guards de role
 • checkPlanLimit est vérifié avant chaque création d'agent
 • 12 templates de bots disponibles pour différents secteurs d'activité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L'AI engine est prêt pour OpenRouter multimodal complet avec vision et support audio
 • Interface multipodal configurée: enabled, vision, audio, imageGen
 • Anti-hallucination: données réelles injectées, règle stricte de ne jamais inventer
 • 12 templates de prompts système par type de business
 • apiKey jamais exposé au client, stocké en JSON dans la DB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Tous les modules CRM sont sécurisés avec isolation multi-tenant et validation
 • Chaque module vérifie checkPlanLimit avant création
 • Les commandes utilisent des transactions atomiques avec vérification de stock
 • Les paiements sont vérifiés contre PLAN_PRICES avec expiration automatique 24h
 • Les campagnes ont des limites par plan: Starter=0, Pro=10, Business=50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L'administration est strictement protégée: seuls les super_admins ont accès
 • Toutes les routes admin retournent 403 Forbidden pour les autres rôles
 • JWT_SECRET est obligatoire en production, bcrypt cost 12 pour les passwords
 • La recommandation principale est la migration du rate limiting vers Upstash Redis
 • En serverless, le rate limiting in-memory ne fonctionne pas entre les invocations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Toutes les 9 ressources sont enforcees via checkPlanLimit() centralisé dans 8 API routes.
- Les 4 plans (Starter, Pro, Business, Enterprise) ont des limites clairement définies.
- Le taux d'enforcement est de 100%, aucune ressource n'est sans protection.
- maxDrivers et maxCampaigns sont à 0 pour Starter, ce qui bloque correctement ces fonctionnalités.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L'app est prete pour le lancement des publicites. Les priorites hautes peuvent etre traitees iterativement.
- La migration du rate limiting vers Upstash Redis est la recommandation #1 — in-memory ne fonctionne pas en serverless.
- Le logging structuré et la CSRF protection sont importantes mais ne bloquent pas le lancement.
- Les recommandations basse priorité sont des améliorations d'architecture à planifier post-lancement.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L'audit est complet. L'app est deployee et securisee pour le lancement des publicites.
- 25+ modules audites, 7 bugs critiques corriges, 100% enforcement des limites de plan.
- Aucune faille critique ouverte — l'application est en production sur Vercel.
- Les recommandations post-lancement (rate limiting Redis, logging, CSRF) peuvent etre traitees iterativement.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00050"/>
            <a:ext cx="8229600" cy="71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36306"/>
            <a:ext cx="8229600" cy="71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14625" y="714375"/>
            <a:ext cx="3714750" cy="3714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4800" dirty="0"/>
          </a:p>
        </p:txBody>
      </p:sp>
      <p:sp>
        <p:nvSpPr>
          <p:cNvPr id="5" name="Text 1"/>
          <p:cNvSpPr/>
          <p:nvPr/>
        </p:nvSpPr>
        <p:spPr>
          <a:xfrm>
            <a:off x="3683630" y="1222397"/>
            <a:ext cx="1776628" cy="250631"/>
          </a:xfrm>
          <a:prstGeom prst="roundRect">
            <a:avLst>
              <a:gd name="adj" fmla="val 3796607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3706490" y="1235199"/>
            <a:ext cx="1730908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spc="84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DEPLOYE EN PRODUCTION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274320" y="1631677"/>
            <a:ext cx="8595360" cy="51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3600" b="1" spc="-84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DE SECURITE COMPLET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2536813" y="2225948"/>
            <a:ext cx="4070263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ChatCommerce CRM Africa </a:t>
            </a:r>
            <a:pPr algn="ctr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pPr algn="ctr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Pre-Lancement Publicitaire</a:t>
            </a:r>
            <a:endParaRPr lang="en-US" sz="1238" dirty="0"/>
          </a:p>
        </p:txBody>
      </p:sp>
      <p:sp>
        <p:nvSpPr>
          <p:cNvPr id="9" name="Text 5"/>
          <p:cNvSpPr/>
          <p:nvPr/>
        </p:nvSpPr>
        <p:spPr>
          <a:xfrm>
            <a:off x="4169595" y="2518842"/>
            <a:ext cx="80481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spc="28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Aout 2026</a:t>
            </a:r>
            <a:endParaRPr lang="en-US" sz="844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3022476"/>
            <a:ext cx="571500" cy="2143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598539" y="3333229"/>
            <a:ext cx="1202941" cy="571500"/>
          </a:xfrm>
          <a:prstGeom prst="roundRect">
            <a:avLst>
              <a:gd name="adj" fmla="val 16667"/>
            </a:avLst>
          </a:prstGeom>
          <a:solidFill>
            <a:srgbClr val="3B82F6">
              <a:alpha val="8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2759273" y="353325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13" name="Text 8"/>
          <p:cNvSpPr/>
          <p:nvPr/>
        </p:nvSpPr>
        <p:spPr>
          <a:xfrm>
            <a:off x="3016448" y="3436813"/>
            <a:ext cx="62429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25+</a:t>
            </a:r>
            <a:endParaRPr lang="en-US" sz="1238" dirty="0"/>
          </a:p>
        </p:txBody>
      </p:sp>
      <p:sp>
        <p:nvSpPr>
          <p:cNvPr id="14" name="Text 9"/>
          <p:cNvSpPr/>
          <p:nvPr/>
        </p:nvSpPr>
        <p:spPr>
          <a:xfrm>
            <a:off x="3016448" y="3672557"/>
            <a:ext cx="624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modules audites</a:t>
            </a:r>
            <a:endParaRPr lang="en-US" sz="675" dirty="0"/>
          </a:p>
        </p:txBody>
      </p:sp>
      <p:sp>
        <p:nvSpPr>
          <p:cNvPr id="15" name="Text 10"/>
          <p:cNvSpPr/>
          <p:nvPr/>
        </p:nvSpPr>
        <p:spPr>
          <a:xfrm>
            <a:off x="3922923" y="3333229"/>
            <a:ext cx="1436340" cy="571500"/>
          </a:xfrm>
          <a:prstGeom prst="roundRect">
            <a:avLst>
              <a:gd name="adj" fmla="val 16667"/>
            </a:avLst>
          </a:prstGeom>
          <a:solidFill>
            <a:srgbClr val="EF4444">
              <a:alpha val="8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4083658" y="353325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EF444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7" name="Text 12"/>
          <p:cNvSpPr/>
          <p:nvPr/>
        </p:nvSpPr>
        <p:spPr>
          <a:xfrm>
            <a:off x="4340833" y="3436813"/>
            <a:ext cx="857696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EF44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1238" dirty="0"/>
          </a:p>
        </p:txBody>
      </p:sp>
      <p:sp>
        <p:nvSpPr>
          <p:cNvPr id="18" name="Text 13"/>
          <p:cNvSpPr/>
          <p:nvPr/>
        </p:nvSpPr>
        <p:spPr>
          <a:xfrm>
            <a:off x="4340833" y="3672557"/>
            <a:ext cx="85769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bugs critiques corriges</a:t>
            </a:r>
            <a:endParaRPr lang="en-US" sz="675" dirty="0"/>
          </a:p>
        </p:txBody>
      </p:sp>
      <p:sp>
        <p:nvSpPr>
          <p:cNvPr id="19" name="Text 14"/>
          <p:cNvSpPr/>
          <p:nvPr/>
        </p:nvSpPr>
        <p:spPr>
          <a:xfrm>
            <a:off x="5480707" y="3333229"/>
            <a:ext cx="1064754" cy="571500"/>
          </a:xfrm>
          <a:prstGeom prst="roundRect">
            <a:avLst>
              <a:gd name="adj" fmla="val 16667"/>
            </a:avLst>
          </a:prstGeom>
          <a:solidFill>
            <a:srgbClr val="10B981">
              <a:alpha val="8000"/>
            </a:srgbClr>
          </a:solidFill>
          <a:ln w="7144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5641442" y="353325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21" name="Text 16"/>
          <p:cNvSpPr/>
          <p:nvPr/>
        </p:nvSpPr>
        <p:spPr>
          <a:xfrm>
            <a:off x="5898617" y="3436813"/>
            <a:ext cx="48611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1238" dirty="0"/>
          </a:p>
        </p:txBody>
      </p:sp>
      <p:sp>
        <p:nvSpPr>
          <p:cNvPr id="22" name="Text 17"/>
          <p:cNvSpPr/>
          <p:nvPr/>
        </p:nvSpPr>
        <p:spPr>
          <a:xfrm>
            <a:off x="5898617" y="3672557"/>
            <a:ext cx="48611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faille ouverte</a:t>
            </a:r>
            <a:endParaRPr lang="en-US" sz="6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342900" cy="3429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4349" y="44719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885825" y="421481"/>
            <a:ext cx="7800975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Vue d'Ensemble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457200" y="942975"/>
            <a:ext cx="1950244" cy="1017203"/>
          </a:xfrm>
          <a:prstGeom prst="roundRect">
            <a:avLst>
              <a:gd name="adj" fmla="val 1123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946547"/>
            <a:ext cx="1950244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03872" y="942975"/>
            <a:ext cx="0" cy="1017203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56606"/>
            <a:ext cx="1950244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7916" y="942975"/>
            <a:ext cx="0" cy="1017203"/>
          </a:xfrm>
          <a:prstGeom prst="line">
            <a:avLst/>
          </a:prstGeom>
          <a:noFill/>
          <a:ln w="21431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081" y="1100138"/>
            <a:ext cx="14216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MODULES TESTES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085975" y="109299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12" name="Text 10"/>
          <p:cNvSpPr/>
          <p:nvPr/>
        </p:nvSpPr>
        <p:spPr>
          <a:xfrm>
            <a:off x="650081" y="1293019"/>
            <a:ext cx="1578769" cy="373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25+</a:t>
            </a:r>
            <a:endParaRPr lang="en-US" sz="2475" dirty="0"/>
          </a:p>
        </p:txBody>
      </p:sp>
      <p:sp>
        <p:nvSpPr>
          <p:cNvPr id="13" name="Text 11"/>
          <p:cNvSpPr/>
          <p:nvPr/>
        </p:nvSpPr>
        <p:spPr>
          <a:xfrm>
            <a:off x="2550319" y="942975"/>
            <a:ext cx="1950244" cy="1017203"/>
          </a:xfrm>
          <a:prstGeom prst="roundRect">
            <a:avLst>
              <a:gd name="adj" fmla="val 1123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550319" y="946547"/>
            <a:ext cx="1950244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96991" y="942975"/>
            <a:ext cx="0" cy="1017203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0319" y="1956606"/>
            <a:ext cx="1950244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1034" y="942975"/>
            <a:ext cx="0" cy="1017203"/>
          </a:xfrm>
          <a:prstGeom prst="line">
            <a:avLst/>
          </a:prstGeom>
          <a:noFill/>
          <a:ln w="21431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1100138"/>
            <a:ext cx="14216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BUGS CRITIQUES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79094" y="109299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EF444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0" name="Text 18"/>
          <p:cNvSpPr/>
          <p:nvPr/>
        </p:nvSpPr>
        <p:spPr>
          <a:xfrm>
            <a:off x="2743200" y="1293019"/>
            <a:ext cx="1578769" cy="3611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dirty="0">
                <a:solidFill>
                  <a:srgbClr val="EF44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2475" dirty="0"/>
          </a:p>
        </p:txBody>
      </p:sp>
      <p:sp>
        <p:nvSpPr>
          <p:cNvPr id="21" name="Text 19"/>
          <p:cNvSpPr/>
          <p:nvPr/>
        </p:nvSpPr>
        <p:spPr>
          <a:xfrm>
            <a:off x="2712962" y="1681572"/>
            <a:ext cx="45081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corriges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643438" y="942975"/>
            <a:ext cx="1950244" cy="1017203"/>
          </a:xfrm>
          <a:prstGeom prst="roundRect">
            <a:avLst>
              <a:gd name="adj" fmla="val 1123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43438" y="946547"/>
            <a:ext cx="1950244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90109" y="942975"/>
            <a:ext cx="0" cy="1017203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43438" y="1956606"/>
            <a:ext cx="1950244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54153" y="942975"/>
            <a:ext cx="0" cy="1017203"/>
          </a:xfrm>
          <a:prstGeom prst="line">
            <a:avLst/>
          </a:prstGeom>
          <a:noFill/>
          <a:ln w="21431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36319" y="1100138"/>
            <a:ext cx="15787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CORRECTIONS SECURITE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72213" y="109299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29" name="Text 27"/>
          <p:cNvSpPr/>
          <p:nvPr/>
        </p:nvSpPr>
        <p:spPr>
          <a:xfrm>
            <a:off x="4836319" y="1293019"/>
            <a:ext cx="1578769" cy="373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2475" dirty="0"/>
          </a:p>
        </p:txBody>
      </p:sp>
      <p:sp>
        <p:nvSpPr>
          <p:cNvPr id="30" name="Text 28"/>
          <p:cNvSpPr/>
          <p:nvPr/>
        </p:nvSpPr>
        <p:spPr>
          <a:xfrm>
            <a:off x="6736556" y="942975"/>
            <a:ext cx="1950244" cy="1017203"/>
          </a:xfrm>
          <a:prstGeom prst="roundRect">
            <a:avLst>
              <a:gd name="adj" fmla="val 1123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736556" y="946547"/>
            <a:ext cx="1950244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83228" y="942975"/>
            <a:ext cx="0" cy="1017203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36556" y="1956606"/>
            <a:ext cx="1950244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47272" y="942975"/>
            <a:ext cx="0" cy="1017203"/>
          </a:xfrm>
          <a:prstGeom prst="line">
            <a:avLst/>
          </a:prstGeom>
          <a:noFill/>
          <a:ln w="21431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29438" y="1100138"/>
            <a:ext cx="14216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TAUX DE REUSSITE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365331" y="109299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37" name="Text 35"/>
          <p:cNvSpPr/>
          <p:nvPr/>
        </p:nvSpPr>
        <p:spPr>
          <a:xfrm>
            <a:off x="6929438" y="1293019"/>
            <a:ext cx="1578769" cy="373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2475" dirty="0"/>
          </a:p>
        </p:txBody>
      </p:sp>
      <p:sp>
        <p:nvSpPr>
          <p:cNvPr id="38" name="Text 36"/>
          <p:cNvSpPr/>
          <p:nvPr/>
        </p:nvSpPr>
        <p:spPr>
          <a:xfrm>
            <a:off x="460772" y="2163775"/>
            <a:ext cx="3993356" cy="2321719"/>
          </a:xfrm>
          <a:prstGeom prst="roundRect">
            <a:avLst>
              <a:gd name="adj" fmla="val 4923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35794" y="236380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40" name="Text 38"/>
          <p:cNvSpPr/>
          <p:nvPr/>
        </p:nvSpPr>
        <p:spPr>
          <a:xfrm>
            <a:off x="850106" y="2338797"/>
            <a:ext cx="342900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1013" dirty="0"/>
          </a:p>
        </p:txBody>
      </p:sp>
      <p:sp>
        <p:nvSpPr>
          <p:cNvPr id="41" name="Text 39"/>
          <p:cNvSpPr/>
          <p:nvPr/>
        </p:nvSpPr>
        <p:spPr>
          <a:xfrm>
            <a:off x="635794" y="2647464"/>
            <a:ext cx="627311" cy="264919"/>
          </a:xfrm>
          <a:prstGeom prst="roundRect">
            <a:avLst>
              <a:gd name="adj" fmla="val 28764"/>
            </a:avLst>
          </a:prstGeom>
          <a:solidFill>
            <a:srgbClr val="3B82F6">
              <a:alpha val="10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20560" y="2660266"/>
            <a:ext cx="657779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Next.js 16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334542" y="2647464"/>
            <a:ext cx="745741" cy="264919"/>
          </a:xfrm>
          <a:prstGeom prst="roundRect">
            <a:avLst>
              <a:gd name="adj" fmla="val 28764"/>
            </a:avLst>
          </a:prstGeom>
          <a:solidFill>
            <a:srgbClr val="3B82F6">
              <a:alpha val="10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334542" y="2660266"/>
            <a:ext cx="745741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Prisma ORM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151720" y="2647464"/>
            <a:ext cx="1081608" cy="264919"/>
          </a:xfrm>
          <a:prstGeom prst="roundRect">
            <a:avLst>
              <a:gd name="adj" fmla="val 28764"/>
            </a:avLst>
          </a:prstGeom>
          <a:solidFill>
            <a:srgbClr val="3B82F6">
              <a:alpha val="10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2151720" y="2660266"/>
            <a:ext cx="1081608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SQLite / PostgreSQL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304766" y="2647464"/>
            <a:ext cx="661578" cy="264919"/>
          </a:xfrm>
          <a:prstGeom prst="roundRect">
            <a:avLst>
              <a:gd name="adj" fmla="val 28764"/>
            </a:avLst>
          </a:prstGeom>
          <a:solidFill>
            <a:srgbClr val="3B82F6">
              <a:alpha val="10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304766" y="2660266"/>
            <a:ext cx="661578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JWT (jose)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7104" y="2958217"/>
            <a:ext cx="504626" cy="264919"/>
          </a:xfrm>
          <a:prstGeom prst="roundRect">
            <a:avLst>
              <a:gd name="adj" fmla="val 28764"/>
            </a:avLst>
          </a:prstGeom>
          <a:solidFill>
            <a:srgbClr val="3B82F6">
              <a:alpha val="10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35794" y="2971019"/>
            <a:ext cx="467246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bcrypt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689872" y="2163775"/>
            <a:ext cx="3993356" cy="2321719"/>
          </a:xfrm>
          <a:prstGeom prst="roundRect">
            <a:avLst>
              <a:gd name="adj" fmla="val 4923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864894" y="236380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53" name="Text 51"/>
          <p:cNvSpPr/>
          <p:nvPr/>
        </p:nvSpPr>
        <p:spPr>
          <a:xfrm>
            <a:off x="5079206" y="2338797"/>
            <a:ext cx="342900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Modules Audites</a:t>
            </a:r>
            <a:endParaRPr lang="en-US" sz="1013" dirty="0"/>
          </a:p>
        </p:txBody>
      </p:sp>
      <p:sp>
        <p:nvSpPr>
          <p:cNvPr id="54" name="Shape 52"/>
          <p:cNvSpPr/>
          <p:nvPr/>
        </p:nvSpPr>
        <p:spPr>
          <a:xfrm>
            <a:off x="4864894" y="2942444"/>
            <a:ext cx="3643313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64894" y="27352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266" dirty="0"/>
          </a:p>
        </p:txBody>
      </p:sp>
      <p:sp>
        <p:nvSpPr>
          <p:cNvPr id="56" name="Text 54"/>
          <p:cNvSpPr/>
          <p:nvPr/>
        </p:nvSpPr>
        <p:spPr>
          <a:xfrm>
            <a:off x="5064919" y="2724559"/>
            <a:ext cx="287089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Authentification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950065" y="2707557"/>
            <a:ext cx="579608" cy="184023"/>
          </a:xfrm>
          <a:prstGeom prst="roundRect">
            <a:avLst>
              <a:gd name="adj" fmla="val 5170807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7924767" y="2717416"/>
            <a:ext cx="63020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SECURISE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864894" y="3228194"/>
            <a:ext cx="3643313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64894" y="30210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61" name="Text 59"/>
          <p:cNvSpPr/>
          <p:nvPr/>
        </p:nvSpPr>
        <p:spPr>
          <a:xfrm>
            <a:off x="5064919" y="3010309"/>
            <a:ext cx="287089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Telegram Agents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950065" y="2993307"/>
            <a:ext cx="579608" cy="184023"/>
          </a:xfrm>
          <a:prstGeom prst="roundRect">
            <a:avLst>
              <a:gd name="adj" fmla="val 5170807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7924767" y="3003166"/>
            <a:ext cx="63020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SECURISE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864894" y="3513944"/>
            <a:ext cx="3643313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64894" y="33067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266" dirty="0"/>
          </a:p>
        </p:txBody>
      </p:sp>
      <p:sp>
        <p:nvSpPr>
          <p:cNvPr id="66" name="Text 64"/>
          <p:cNvSpPr/>
          <p:nvPr/>
        </p:nvSpPr>
        <p:spPr>
          <a:xfrm>
            <a:off x="5064919" y="3296059"/>
            <a:ext cx="287089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Engine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950065" y="3279057"/>
            <a:ext cx="579608" cy="184023"/>
          </a:xfrm>
          <a:prstGeom prst="roundRect">
            <a:avLst>
              <a:gd name="adj" fmla="val 5170807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7924767" y="3288916"/>
            <a:ext cx="63020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SECURISE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864894" y="35925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70" name="Text 68"/>
          <p:cNvSpPr/>
          <p:nvPr/>
        </p:nvSpPr>
        <p:spPr>
          <a:xfrm>
            <a:off x="5064919" y="3581809"/>
            <a:ext cx="28708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CRM (Contacts, Produits, Commandes...)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7950065" y="3564807"/>
            <a:ext cx="579608" cy="184023"/>
          </a:xfrm>
          <a:prstGeom prst="roundRect">
            <a:avLst>
              <a:gd name="adj" fmla="val 5170807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7924767" y="3574666"/>
            <a:ext cx="63020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SECURISE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4864894" y="3910422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8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ROLES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864894" y="4083358"/>
            <a:ext cx="856692" cy="239916"/>
          </a:xfrm>
          <a:prstGeom prst="roundRect">
            <a:avLst>
              <a:gd name="adj" fmla="val 23821"/>
            </a:avLst>
          </a:prstGeom>
          <a:solidFill>
            <a:srgbClr val="334155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4864894" y="4096159"/>
            <a:ext cx="85669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company_admin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778736" y="4083358"/>
            <a:ext cx="753554" cy="239916"/>
          </a:xfrm>
          <a:prstGeom prst="roundRect">
            <a:avLst>
              <a:gd name="adj" fmla="val 23821"/>
            </a:avLst>
          </a:prstGeom>
          <a:solidFill>
            <a:srgbClr val="334155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5778736" y="4096159"/>
            <a:ext cx="7535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super_admin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589440" y="4083358"/>
            <a:ext cx="443805" cy="239916"/>
          </a:xfrm>
          <a:prstGeom prst="roundRect">
            <a:avLst>
              <a:gd name="adj" fmla="val 23821"/>
            </a:avLst>
          </a:prstGeom>
          <a:solidFill>
            <a:srgbClr val="334155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6589440" y="4096159"/>
            <a:ext cx="44380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7090395" y="4083358"/>
            <a:ext cx="495486" cy="239916"/>
          </a:xfrm>
          <a:prstGeom prst="roundRect">
            <a:avLst>
              <a:gd name="adj" fmla="val 23821"/>
            </a:avLst>
          </a:prstGeom>
          <a:solidFill>
            <a:srgbClr val="334155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7090395" y="4096159"/>
            <a:ext cx="49548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viewer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98264"/>
            <a:ext cx="342900" cy="342900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4349" y="445413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EF444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885825" y="342900"/>
            <a:ext cx="2455502" cy="286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Bugs Critiques Corriges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885825" y="657225"/>
            <a:ext cx="23385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 vulnerabilites identifiees et resolues dans cette session</a:t>
            </a:r>
            <a:endParaRPr lang="en-US" sz="731" dirty="0"/>
          </a:p>
        </p:txBody>
      </p:sp>
      <p:sp>
        <p:nvSpPr>
          <p:cNvPr id="6" name="Text 4"/>
          <p:cNvSpPr/>
          <p:nvPr/>
        </p:nvSpPr>
        <p:spPr>
          <a:xfrm>
            <a:off x="7071754" y="471702"/>
            <a:ext cx="518368" cy="196025"/>
          </a:xfrm>
          <a:prstGeom prst="roundRect">
            <a:avLst>
              <a:gd name="adj" fmla="val 4854215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15836" y="482203"/>
            <a:ext cx="63020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EF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CRITIQUE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61560" y="471702"/>
            <a:ext cx="413556" cy="196025"/>
          </a:xfrm>
          <a:prstGeom prst="roundRect">
            <a:avLst>
              <a:gd name="adj" fmla="val 4854215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61560" y="482203"/>
            <a:ext cx="4135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HAUTE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146554" y="471702"/>
            <a:ext cx="540246" cy="196025"/>
          </a:xfrm>
          <a:prstGeom prst="roundRect">
            <a:avLst>
              <a:gd name="adj" fmla="val 4854215"/>
            </a:avLst>
          </a:prstGeom>
          <a:solidFill>
            <a:srgbClr val="FACC1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38740" y="482203"/>
            <a:ext cx="5558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CD3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MOYENNE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0772" y="942975"/>
            <a:ext cx="8222456" cy="3854053"/>
          </a:xfrm>
          <a:prstGeom prst="roundRect">
            <a:avLst>
              <a:gd name="adj" fmla="val 2966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4344" y="946547"/>
          <a:ext cx="8215313" cy="914400"/>
        </p:xfrm>
        <a:graphic>
          <a:graphicData uri="http://schemas.openxmlformats.org/drawingml/2006/table">
            <a:tbl>
              <a:tblPr/>
              <a:tblGrid>
                <a:gridCol w="1314450"/>
                <a:gridCol w="2628900"/>
                <a:gridCol w="1067991"/>
                <a:gridCol w="32039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Module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Bug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Severite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Correctif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6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0A5F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Telegram Agents GET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aiConfig + apiKey expose aux non-admins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CRITIQUE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Role-based select + strip apiKey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0A5F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Telegram Agent [id] GET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aiConfig complet expose a tous les roles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CRITIQUE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isAdmin guard sur aiConfig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0A5F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Telegram Page Frontend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saveAgent envoit tous les champs AI meme pour non-admins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CRITIQUE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Payload strippé selon role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0A5F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Services POST/DELETE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Non-admins pouvaient creer/supprimer des services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HAUTE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Admin-only guard ajouté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0A5F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AI Bot Engine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Pas de support multimodal OpenRouter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MOYENNE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Interface multimodal + vision/audio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0A5F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Plan Limits Sync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maxProducts non verifie lors du sync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HAUTE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checkPlanLimit ajouté (corrigé precedemment)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0A5F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Chariow Webhook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Non-transactionnel, double update possible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HAUTE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db.$transaction pour atomicité (corrigé precedemment)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00013" marT="100013" marB="85725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342900" cy="34290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4349" y="44719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885825" y="421481"/>
            <a:ext cx="2384009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Module Authentification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7874779" y="446184"/>
            <a:ext cx="834881" cy="250631"/>
          </a:xfrm>
          <a:prstGeom prst="roundRect">
            <a:avLst>
              <a:gd name="adj" fmla="val 3796607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97639" y="458986"/>
            <a:ext cx="789161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spc="56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0772" y="917972"/>
            <a:ext cx="4007644" cy="3821906"/>
          </a:xfrm>
          <a:prstGeom prst="roundRect">
            <a:avLst>
              <a:gd name="adj" fmla="val 2991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5794" y="111263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850106" y="1092994"/>
            <a:ext cx="344328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Routes API</a:t>
            </a:r>
            <a:endParaRPr lang="en-US" sz="956" dirty="0"/>
          </a:p>
        </p:txBody>
      </p:sp>
      <p:sp>
        <p:nvSpPr>
          <p:cNvPr id="10" name="Shape 8"/>
          <p:cNvSpPr/>
          <p:nvPr/>
        </p:nvSpPr>
        <p:spPr>
          <a:xfrm>
            <a:off x="635794" y="1553766"/>
            <a:ext cx="3657600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794" y="1389459"/>
            <a:ext cx="3657600" cy="197596"/>
          </a:xfrm>
          <a:prstGeom prst="rect">
            <a:avLst/>
          </a:prstGeom>
          <a:noFill/>
          <a:ln/>
        </p:spPr>
        <p:txBody>
          <a:bodyPr wrap="none" lIns="0" tIns="0" rIns="0" bIns="42863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/API/AUTH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5794" y="1907381"/>
            <a:ext cx="3657600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794" y="1669137"/>
            <a:ext cx="303609" cy="180023"/>
          </a:xfrm>
          <a:prstGeom prst="roundRect">
            <a:avLst>
              <a:gd name="adj" fmla="val 21164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1157" y="1678781"/>
            <a:ext cx="33288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71047" y="1693069"/>
            <a:ext cx="570791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/api/auth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1422388" y="1707356"/>
            <a:ext cx="195392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login, register, change_password, update_profile</a:t>
            </a:r>
            <a:endParaRPr lang="en-US" sz="675" dirty="0"/>
          </a:p>
        </p:txBody>
      </p:sp>
      <p:sp>
        <p:nvSpPr>
          <p:cNvPr id="17" name="Shape 15"/>
          <p:cNvSpPr/>
          <p:nvPr/>
        </p:nvSpPr>
        <p:spPr>
          <a:xfrm>
            <a:off x="635794" y="2203847"/>
            <a:ext cx="3657600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794" y="1965603"/>
            <a:ext cx="300038" cy="180023"/>
          </a:xfrm>
          <a:prstGeom prst="roundRect">
            <a:avLst>
              <a:gd name="adj" fmla="val 21164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5794" y="1975247"/>
            <a:ext cx="30003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67475" y="1989534"/>
            <a:ext cx="570791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/api/auth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1418816" y="2003822"/>
            <a:ext cx="8041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profil utilisateur</a:t>
            </a:r>
            <a:endParaRPr lang="en-US" sz="675" dirty="0"/>
          </a:p>
        </p:txBody>
      </p:sp>
      <p:sp>
        <p:nvSpPr>
          <p:cNvPr id="22" name="Shape 20"/>
          <p:cNvSpPr/>
          <p:nvPr/>
        </p:nvSpPr>
        <p:spPr>
          <a:xfrm>
            <a:off x="635794" y="2457450"/>
            <a:ext cx="3657600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794" y="2293144"/>
            <a:ext cx="3657600" cy="197596"/>
          </a:xfrm>
          <a:prstGeom prst="rect">
            <a:avLst/>
          </a:prstGeom>
          <a:noFill/>
          <a:ln/>
        </p:spPr>
        <p:txBody>
          <a:bodyPr wrap="none" lIns="0" tIns="0" rIns="0" bIns="42863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/API/AUTH/2FA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35794" y="2811066"/>
            <a:ext cx="3657600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794" y="2572822"/>
            <a:ext cx="303609" cy="180023"/>
          </a:xfrm>
          <a:prstGeom prst="roundRect">
            <a:avLst>
              <a:gd name="adj" fmla="val 21164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1157" y="2582466"/>
            <a:ext cx="33288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10841" y="2596753"/>
            <a:ext cx="645204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/api/auth/2fa</a:t>
            </a:r>
            <a:endParaRPr lang="en-US" sz="788" dirty="0"/>
          </a:p>
        </p:txBody>
      </p:sp>
      <p:sp>
        <p:nvSpPr>
          <p:cNvPr id="28" name="Text 26"/>
          <p:cNvSpPr/>
          <p:nvPr/>
        </p:nvSpPr>
        <p:spPr>
          <a:xfrm>
            <a:off x="1589150" y="2611041"/>
            <a:ext cx="158343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enable, verify, disable, generate-otp</a:t>
            </a:r>
            <a:endParaRPr lang="en-US" sz="675" dirty="0"/>
          </a:p>
        </p:txBody>
      </p:sp>
      <p:sp>
        <p:nvSpPr>
          <p:cNvPr id="29" name="Shape 27"/>
          <p:cNvSpPr/>
          <p:nvPr/>
        </p:nvSpPr>
        <p:spPr>
          <a:xfrm>
            <a:off x="635794" y="3107531"/>
            <a:ext cx="3657600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794" y="2869287"/>
            <a:ext cx="300038" cy="180023"/>
          </a:xfrm>
          <a:prstGeom prst="roundRect">
            <a:avLst>
              <a:gd name="adj" fmla="val 21164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35794" y="2878931"/>
            <a:ext cx="30003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07269" y="2893219"/>
            <a:ext cx="645204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/api/auth/2fa</a:t>
            </a:r>
            <a:endParaRPr lang="en-US" sz="788" dirty="0"/>
          </a:p>
        </p:txBody>
      </p:sp>
      <p:sp>
        <p:nvSpPr>
          <p:cNvPr id="33" name="Text 31"/>
          <p:cNvSpPr/>
          <p:nvPr/>
        </p:nvSpPr>
        <p:spPr>
          <a:xfrm>
            <a:off x="1580163" y="2907506"/>
            <a:ext cx="41945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statut</a:t>
            </a:r>
            <a:endParaRPr lang="en-US" sz="675" dirty="0"/>
          </a:p>
        </p:txBody>
      </p:sp>
      <p:sp>
        <p:nvSpPr>
          <p:cNvPr id="34" name="Shape 32"/>
          <p:cNvSpPr/>
          <p:nvPr/>
        </p:nvSpPr>
        <p:spPr>
          <a:xfrm>
            <a:off x="635794" y="3361134"/>
            <a:ext cx="3657600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794" y="3196828"/>
            <a:ext cx="3657600" cy="197596"/>
          </a:xfrm>
          <a:prstGeom prst="rect">
            <a:avLst/>
          </a:prstGeom>
          <a:noFill/>
          <a:ln/>
        </p:spPr>
        <p:txBody>
          <a:bodyPr wrap="none" lIns="0" tIns="0" rIns="0" bIns="42863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AUTRES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35794" y="3714750"/>
            <a:ext cx="3657600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794" y="3476506"/>
            <a:ext cx="303609" cy="180023"/>
          </a:xfrm>
          <a:prstGeom prst="roundRect">
            <a:avLst>
              <a:gd name="adj" fmla="val 21164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21157" y="3486150"/>
            <a:ext cx="33288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10841" y="3500438"/>
            <a:ext cx="1297006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/api/auth/change-password</a:t>
            </a:r>
            <a:endParaRPr lang="en-US" sz="788" dirty="0"/>
          </a:p>
        </p:txBody>
      </p:sp>
      <p:sp>
        <p:nvSpPr>
          <p:cNvPr id="40" name="Text 38"/>
          <p:cNvSpPr/>
          <p:nvPr/>
        </p:nvSpPr>
        <p:spPr>
          <a:xfrm>
            <a:off x="635794" y="3772972"/>
            <a:ext cx="303609" cy="180023"/>
          </a:xfrm>
          <a:prstGeom prst="roundRect">
            <a:avLst>
              <a:gd name="adj" fmla="val 21164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21157" y="3782616"/>
            <a:ext cx="33288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10841" y="3796903"/>
            <a:ext cx="808205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/api/auth/phone</a:t>
            </a:r>
            <a:endParaRPr lang="en-US" sz="788" dirty="0"/>
          </a:p>
        </p:txBody>
      </p:sp>
      <p:sp>
        <p:nvSpPr>
          <p:cNvPr id="43" name="Shape 41"/>
          <p:cNvSpPr/>
          <p:nvPr/>
        </p:nvSpPr>
        <p:spPr>
          <a:xfrm>
            <a:off x="635794" y="4346972"/>
            <a:ext cx="3657600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794" y="444341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807244" y="4436269"/>
            <a:ext cx="34861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Middleware JWT HS256 +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jose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675584" y="917972"/>
            <a:ext cx="4007644" cy="3821906"/>
          </a:xfrm>
          <a:prstGeom prst="roundRect">
            <a:avLst>
              <a:gd name="adj" fmla="val 2991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850606" y="111263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48" name="Text 46"/>
          <p:cNvSpPr/>
          <p:nvPr/>
        </p:nvSpPr>
        <p:spPr>
          <a:xfrm>
            <a:off x="5064919" y="1092994"/>
            <a:ext cx="344328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Securite</a:t>
            </a:r>
            <a:endParaRPr lang="en-US" sz="956" dirty="0"/>
          </a:p>
        </p:txBody>
      </p:sp>
      <p:sp>
        <p:nvSpPr>
          <p:cNvPr id="49" name="Text 47"/>
          <p:cNvSpPr/>
          <p:nvPr/>
        </p:nvSpPr>
        <p:spPr>
          <a:xfrm>
            <a:off x="4850606" y="14537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50" name="Text 48"/>
          <p:cNvSpPr/>
          <p:nvPr/>
        </p:nvSpPr>
        <p:spPr>
          <a:xfrm>
            <a:off x="5050631" y="1460897"/>
            <a:ext cx="1054932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Rate limiting login:</a:t>
            </a:r>
            <a:endParaRPr lang="en-US" sz="788" dirty="0"/>
          </a:p>
        </p:txBody>
      </p:sp>
      <p:sp>
        <p:nvSpPr>
          <p:cNvPr id="51" name="Text 49"/>
          <p:cNvSpPr/>
          <p:nvPr/>
        </p:nvSpPr>
        <p:spPr>
          <a:xfrm>
            <a:off x="5978537" y="1460897"/>
            <a:ext cx="886174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tentatives / 60s</a:t>
            </a:r>
            <a:endParaRPr lang="en-US" sz="788" dirty="0"/>
          </a:p>
        </p:txBody>
      </p:sp>
      <p:sp>
        <p:nvSpPr>
          <p:cNvPr id="52" name="Text 50"/>
          <p:cNvSpPr/>
          <p:nvPr/>
        </p:nvSpPr>
        <p:spPr>
          <a:xfrm>
            <a:off x="4850606" y="172733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53" name="Text 51"/>
          <p:cNvSpPr/>
          <p:nvPr/>
        </p:nvSpPr>
        <p:spPr>
          <a:xfrm>
            <a:off x="5050631" y="1734480"/>
            <a:ext cx="113095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Rate limiting register:</a:t>
            </a:r>
            <a:endParaRPr lang="en-US" sz="788" dirty="0"/>
          </a:p>
        </p:txBody>
      </p:sp>
      <p:sp>
        <p:nvSpPr>
          <p:cNvPr id="54" name="Text 52"/>
          <p:cNvSpPr/>
          <p:nvPr/>
        </p:nvSpPr>
        <p:spPr>
          <a:xfrm>
            <a:off x="6066873" y="1734480"/>
            <a:ext cx="60737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heure</a:t>
            </a:r>
            <a:endParaRPr lang="en-US" sz="788" dirty="0"/>
          </a:p>
        </p:txBody>
      </p:sp>
      <p:sp>
        <p:nvSpPr>
          <p:cNvPr id="55" name="Text 53"/>
          <p:cNvSpPr/>
          <p:nvPr/>
        </p:nvSpPr>
        <p:spPr>
          <a:xfrm>
            <a:off x="4850606" y="200092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266" dirty="0"/>
          </a:p>
        </p:txBody>
      </p:sp>
      <p:sp>
        <p:nvSpPr>
          <p:cNvPr id="56" name="Text 54"/>
          <p:cNvSpPr/>
          <p:nvPr/>
        </p:nvSpPr>
        <p:spPr>
          <a:xfrm>
            <a:off x="5050631" y="2008063"/>
            <a:ext cx="576358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Hashage: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463007" y="2008063"/>
            <a:ext cx="861108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bcrypt cost 12</a:t>
            </a:r>
            <a:endParaRPr lang="en-US" sz="788" dirty="0"/>
          </a:p>
        </p:txBody>
      </p:sp>
      <p:sp>
        <p:nvSpPr>
          <p:cNvPr id="58" name="Text 56"/>
          <p:cNvSpPr/>
          <p:nvPr/>
        </p:nvSpPr>
        <p:spPr>
          <a:xfrm>
            <a:off x="4850606" y="22745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266" dirty="0"/>
          </a:p>
        </p:txBody>
      </p:sp>
      <p:sp>
        <p:nvSpPr>
          <p:cNvPr id="59" name="Text 57"/>
          <p:cNvSpPr/>
          <p:nvPr/>
        </p:nvSpPr>
        <p:spPr>
          <a:xfrm>
            <a:off x="5050631" y="2281647"/>
            <a:ext cx="814092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JWT_SECRET: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773043" y="2281647"/>
            <a:ext cx="1183085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obligatoire en production</a:t>
            </a:r>
            <a:endParaRPr lang="en-US" sz="788" dirty="0"/>
          </a:p>
        </p:txBody>
      </p:sp>
      <p:sp>
        <p:nvSpPr>
          <p:cNvPr id="61" name="Text 59"/>
          <p:cNvSpPr/>
          <p:nvPr/>
        </p:nvSpPr>
        <p:spPr>
          <a:xfrm>
            <a:off x="4850606" y="254808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62" name="Text 60"/>
          <p:cNvSpPr/>
          <p:nvPr/>
        </p:nvSpPr>
        <p:spPr>
          <a:xfrm>
            <a:off x="5050631" y="2555230"/>
            <a:ext cx="964143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Fallback DB-free:</a:t>
            </a:r>
            <a:endParaRPr lang="en-US" sz="788" dirty="0"/>
          </a:p>
        </p:txBody>
      </p:sp>
      <p:sp>
        <p:nvSpPr>
          <p:cNvPr id="63" name="Text 61"/>
          <p:cNvSpPr/>
          <p:nvPr/>
        </p:nvSpPr>
        <p:spPr>
          <a:xfrm>
            <a:off x="5901072" y="2555230"/>
            <a:ext cx="1567040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comptes hardcodes admin/demo</a:t>
            </a:r>
            <a:endParaRPr lang="en-US" sz="788" dirty="0"/>
          </a:p>
        </p:txBody>
      </p:sp>
      <p:sp>
        <p:nvSpPr>
          <p:cNvPr id="64" name="Text 62"/>
          <p:cNvSpPr/>
          <p:nvPr/>
        </p:nvSpPr>
        <p:spPr>
          <a:xfrm>
            <a:off x="4850606" y="28216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1266" dirty="0"/>
          </a:p>
        </p:txBody>
      </p:sp>
      <p:sp>
        <p:nvSpPr>
          <p:cNvPr id="65" name="Text 63"/>
          <p:cNvSpPr/>
          <p:nvPr/>
        </p:nvSpPr>
        <p:spPr>
          <a:xfrm>
            <a:off x="5050631" y="2828813"/>
            <a:ext cx="34249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2FA: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295193" y="2828813"/>
            <a:ext cx="1308623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RFC 6238 TOTP conforme</a:t>
            </a:r>
            <a:endParaRPr lang="en-US" sz="788" dirty="0"/>
          </a:p>
        </p:txBody>
      </p:sp>
      <p:sp>
        <p:nvSpPr>
          <p:cNvPr id="67" name="Text 65"/>
          <p:cNvSpPr/>
          <p:nvPr/>
        </p:nvSpPr>
        <p:spPr>
          <a:xfrm>
            <a:off x="4850606" y="30952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68" name="Text 66"/>
          <p:cNvSpPr/>
          <p:nvPr/>
        </p:nvSpPr>
        <p:spPr>
          <a:xfrm>
            <a:off x="5050631" y="3102397"/>
            <a:ext cx="1081357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Backup codes 2FA: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997743" y="3102397"/>
            <a:ext cx="455168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codes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850606" y="336883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71" name="Text 69"/>
          <p:cNvSpPr/>
          <p:nvPr/>
        </p:nvSpPr>
        <p:spPr>
          <a:xfrm>
            <a:off x="4990209" y="3375980"/>
            <a:ext cx="71358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Validation:</a:t>
            </a:r>
            <a:endParaRPr lang="en-US" sz="788" dirty="0"/>
          </a:p>
        </p:txBody>
      </p:sp>
      <p:sp>
        <p:nvSpPr>
          <p:cNvPr id="72" name="Text 70"/>
          <p:cNvSpPr/>
          <p:nvPr/>
        </p:nvSpPr>
        <p:spPr>
          <a:xfrm>
            <a:off x="5584180" y="3375980"/>
            <a:ext cx="915347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email + password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00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3" name="Text 1"/>
          <p:cNvSpPr/>
          <p:nvPr/>
        </p:nvSpPr>
        <p:spPr>
          <a:xfrm>
            <a:off x="742950" y="400050"/>
            <a:ext cx="2945262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Module Telegram Agents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3184885" y="462558"/>
            <a:ext cx="1106053" cy="175022"/>
          </a:xfrm>
          <a:prstGeom prst="roundRect">
            <a:avLst>
              <a:gd name="adj" fmla="val 5436731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184885" y="462558"/>
            <a:ext cx="5501915" cy="244394"/>
          </a:xfrm>
          <a:prstGeom prst="rect">
            <a:avLst/>
          </a:prstGeom>
          <a:noFill/>
          <a:ln/>
        </p:spPr>
        <p:txBody>
          <a:bodyPr wrap="none" lIns="85725" tIns="28575" rIns="85725" bIns="28575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EF44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bugs critiques corrigés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42950" y="742950"/>
            <a:ext cx="7943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 cœur de l'application — Audit complet et corrections appliquées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0772" y="1039416"/>
            <a:ext cx="5441082" cy="3961209"/>
          </a:xfrm>
          <a:prstGeom prst="roundRect">
            <a:avLst>
              <a:gd name="adj" fmla="val 2885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7219" y="1185863"/>
            <a:ext cx="342900" cy="342900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4368" y="1233011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EF444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1021556" y="1260872"/>
            <a:ext cx="193174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Configuration AI Bloquée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2638388" y="1253300"/>
            <a:ext cx="571612" cy="208026"/>
          </a:xfrm>
          <a:prstGeom prst="roundRect">
            <a:avLst>
              <a:gd name="adj" fmla="val 4574176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638388" y="1264444"/>
            <a:ext cx="57161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CORRIGÉ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0791" y="1632347"/>
            <a:ext cx="2524088" cy="457200"/>
          </a:xfrm>
          <a:prstGeom prst="roundRect">
            <a:avLst>
              <a:gd name="adj" fmla="val 16667"/>
            </a:avLst>
          </a:prstGeom>
          <a:solidFill>
            <a:srgbClr val="EF4444">
              <a:alpha val="10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0088" y="1721644"/>
            <a:ext cx="2345494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28" kern="0" dirty="0">
                <a:solidFill>
                  <a:srgbClr val="EF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AVANT — VULNÉRABLE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731072" y="1885950"/>
            <a:ext cx="42159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apiKey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098144" y="1885950"/>
            <a:ext cx="5342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61592" y="1885950"/>
            <a:ext cx="40774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27747" y="1632347"/>
            <a:ext cx="2524088" cy="457200"/>
          </a:xfrm>
          <a:prstGeom prst="roundRect">
            <a:avLst>
              <a:gd name="adj" fmla="val 16667"/>
            </a:avLst>
          </a:prstGeom>
          <a:solidFill>
            <a:srgbClr val="10B981">
              <a:alpha val="10000"/>
            </a:srgbClr>
          </a:solidFill>
          <a:ln w="7144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17044" y="1721644"/>
            <a:ext cx="2345494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APRÈS — SÉCURISÉ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08150" y="1885950"/>
            <a:ext cx="54628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aiConfig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84790" y="1885950"/>
            <a:ext cx="42159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apiKey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7219" y="22074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807244" y="2193131"/>
            <a:ext cx="4948163" cy="175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Frontend: Champs AI visibles </a:t>
            </a:r>
            <a:pPr algn="l" indent="0" marL="0">
              <a:lnSpc>
                <a:spcPts val="1080"/>
              </a:lnSpc>
              <a:buNone/>
            </a:pPr>
            <a:r>
              <a:rPr lang="en-US" sz="800" b="1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SEULEMENT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pour admins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7219" y="24217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807244" y="2407444"/>
            <a:ext cx="4948163" cy="175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saveAgent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Payload strippé selon role</a:t>
            </a:r>
            <a:endParaRPr lang="en-US" sz="8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9625" y="5464969"/>
            <a:ext cx="857250" cy="85725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429625" y="5464969"/>
            <a:ext cx="857250" cy="85725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023297" y="1039416"/>
            <a:ext cx="2659931" cy="2157413"/>
          </a:xfrm>
          <a:prstGeom prst="roundRect">
            <a:avLst>
              <a:gd name="adj" fmla="val 5298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169744" y="120015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30" name="Text 27"/>
          <p:cNvSpPr/>
          <p:nvPr/>
        </p:nvSpPr>
        <p:spPr>
          <a:xfrm>
            <a:off x="6384057" y="1185863"/>
            <a:ext cx="215272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Routes Protégées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169744" y="1682353"/>
            <a:ext cx="2367037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69744" y="1509117"/>
            <a:ext cx="213105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/agents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045202" y="1492044"/>
            <a:ext cx="491579" cy="152019"/>
          </a:xfrm>
          <a:prstGeom prst="roundRect">
            <a:avLst>
              <a:gd name="adj" fmla="val 25063"/>
            </a:avLst>
          </a:prstGeom>
          <a:solidFill>
            <a:srgbClr val="10B981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938724" y="1500188"/>
            <a:ext cx="70453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 select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169744" y="1910953"/>
            <a:ext cx="2367037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169744" y="1737717"/>
            <a:ext cx="193020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/agents/[id]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8065182" y="1720644"/>
            <a:ext cx="471599" cy="152019"/>
          </a:xfrm>
          <a:prstGeom prst="roundRect">
            <a:avLst>
              <a:gd name="adj" fmla="val 25063"/>
            </a:avLst>
          </a:prstGeom>
          <a:solidFill>
            <a:srgbClr val="3B82F6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7985879" y="1728788"/>
            <a:ext cx="63020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token only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6169744" y="2139553"/>
            <a:ext cx="2367037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69744" y="1966317"/>
            <a:ext cx="215447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/agents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065182" y="1949244"/>
            <a:ext cx="471599" cy="152019"/>
          </a:xfrm>
          <a:prstGeom prst="roundRect">
            <a:avLst>
              <a:gd name="adj" fmla="val 25063"/>
            </a:avLst>
          </a:prstGeom>
          <a:solidFill>
            <a:srgbClr val="3B82F6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7985879" y="1957388"/>
            <a:ext cx="63020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token only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6169744" y="2368153"/>
            <a:ext cx="2367037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169744" y="2194917"/>
            <a:ext cx="23124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8033482" y="2177844"/>
            <a:ext cx="503300" cy="152019"/>
          </a:xfrm>
          <a:prstGeom prst="roundRect">
            <a:avLst>
              <a:gd name="adj" fmla="val 25063"/>
            </a:avLst>
          </a:prstGeom>
          <a:solidFill>
            <a:srgbClr val="EF4444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7964035" y="2185988"/>
            <a:ext cx="6421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EF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 only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6169744" y="2596753"/>
            <a:ext cx="2367037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169744" y="2423517"/>
            <a:ext cx="23124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/setup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8033482" y="2406444"/>
            <a:ext cx="503300" cy="152019"/>
          </a:xfrm>
          <a:prstGeom prst="roundRect">
            <a:avLst>
              <a:gd name="adj" fmla="val 25063"/>
            </a:avLst>
          </a:prstGeom>
          <a:solidFill>
            <a:srgbClr val="EF4444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7964035" y="2414588"/>
            <a:ext cx="6421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EF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 only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6169744" y="2825353"/>
            <a:ext cx="2367037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169744" y="2652117"/>
            <a:ext cx="236703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/activate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8140526" y="2635044"/>
            <a:ext cx="396255" cy="152019"/>
          </a:xfrm>
          <a:prstGeom prst="roundRect">
            <a:avLst>
              <a:gd name="adj" fmla="val 25063"/>
            </a:avLst>
          </a:prstGeom>
          <a:solidFill>
            <a:srgbClr val="10B981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8048728" y="2643188"/>
            <a:ext cx="579852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roles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6169744" y="2880717"/>
            <a:ext cx="23124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8033482" y="2863644"/>
            <a:ext cx="503300" cy="152019"/>
          </a:xfrm>
          <a:prstGeom prst="roundRect">
            <a:avLst>
              <a:gd name="adj" fmla="val 25063"/>
            </a:avLst>
          </a:prstGeom>
          <a:solidFill>
            <a:srgbClr val="EF4444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7964035" y="2871788"/>
            <a:ext cx="6421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EF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 only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6023297" y="3318272"/>
            <a:ext cx="2659931" cy="1682353"/>
          </a:xfrm>
          <a:prstGeom prst="roundRect">
            <a:avLst>
              <a:gd name="adj" fmla="val 6794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6"/>
          <p:cNvSpPr/>
          <p:nvPr/>
        </p:nvSpPr>
        <p:spPr>
          <a:xfrm>
            <a:off x="6169744" y="347900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60" name="Text 57"/>
          <p:cNvSpPr/>
          <p:nvPr/>
        </p:nvSpPr>
        <p:spPr>
          <a:xfrm>
            <a:off x="6384057" y="3464719"/>
            <a:ext cx="215272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 Limits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6169744" y="3964781"/>
            <a:ext cx="2367037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169744" y="3779044"/>
            <a:ext cx="168179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Starter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7832252" y="3779044"/>
            <a:ext cx="73810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agents max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6169744" y="4196953"/>
            <a:ext cx="2367037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169744" y="4011216"/>
            <a:ext cx="168179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7832252" y="4011216"/>
            <a:ext cx="73810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agents max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6169744" y="4429125"/>
            <a:ext cx="2367037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169744" y="4243388"/>
            <a:ext cx="162587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Business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7802035" y="4243388"/>
            <a:ext cx="74261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agents max</a:t>
            </a:r>
            <a:endParaRPr lang="en-US" sz="731" dirty="0"/>
          </a:p>
        </p:txBody>
      </p:sp>
      <p:sp>
        <p:nvSpPr>
          <p:cNvPr id="70" name="Shape 67"/>
          <p:cNvSpPr/>
          <p:nvPr/>
        </p:nvSpPr>
        <p:spPr>
          <a:xfrm>
            <a:off x="6169744" y="4661297"/>
            <a:ext cx="2367037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169744" y="4475559"/>
            <a:ext cx="190537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</a:t>
            </a:r>
            <a:endParaRPr lang="en-US" sz="800" dirty="0"/>
          </a:p>
        </p:txBody>
      </p:sp>
      <p:sp>
        <p:nvSpPr>
          <p:cNvPr id="72" name="Text 69"/>
          <p:cNvSpPr/>
          <p:nvPr/>
        </p:nvSpPr>
        <p:spPr>
          <a:xfrm>
            <a:off x="8067260" y="4475559"/>
            <a:ext cx="4916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Illimité</a:t>
            </a:r>
            <a:endParaRPr lang="en-US" sz="731" dirty="0"/>
          </a:p>
        </p:txBody>
      </p:sp>
      <p:sp>
        <p:nvSpPr>
          <p:cNvPr id="73" name="Text 70"/>
          <p:cNvSpPr/>
          <p:nvPr/>
        </p:nvSpPr>
        <p:spPr>
          <a:xfrm>
            <a:off x="6169744" y="4736306"/>
            <a:ext cx="236703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checkPlanLimit vérifié</a:t>
            </a:r>
            <a:endParaRPr lang="en-US" sz="800" dirty="0"/>
          </a:p>
        </p:txBody>
      </p:sp>
      <p:sp>
        <p:nvSpPr>
          <p:cNvPr id="74" name="Text 71"/>
          <p:cNvSpPr/>
          <p:nvPr/>
        </p:nvSpPr>
        <p:spPr>
          <a:xfrm>
            <a:off x="460772" y="5122069"/>
            <a:ext cx="8222456" cy="653653"/>
          </a:xfrm>
          <a:prstGeom prst="roundRect">
            <a:avLst>
              <a:gd name="adj" fmla="val 17486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2"/>
          <p:cNvSpPr/>
          <p:nvPr/>
        </p:nvSpPr>
        <p:spPr>
          <a:xfrm>
            <a:off x="607219" y="5254228"/>
            <a:ext cx="1428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406" dirty="0"/>
          </a:p>
        </p:txBody>
      </p:sp>
      <p:sp>
        <p:nvSpPr>
          <p:cNvPr id="76" name="Text 73"/>
          <p:cNvSpPr/>
          <p:nvPr/>
        </p:nvSpPr>
        <p:spPr>
          <a:xfrm>
            <a:off x="821531" y="5239941"/>
            <a:ext cx="196172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Types de Bots Prêts à l'Emploi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2709379" y="5233654"/>
            <a:ext cx="519596" cy="184023"/>
          </a:xfrm>
          <a:prstGeom prst="roundRect">
            <a:avLst>
              <a:gd name="adj" fmla="val 5170807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5"/>
          <p:cNvSpPr/>
          <p:nvPr/>
        </p:nvSpPr>
        <p:spPr>
          <a:xfrm>
            <a:off x="2664865" y="5243513"/>
            <a:ext cx="6086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Templates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607219" y="5472327"/>
            <a:ext cx="627757" cy="196025"/>
          </a:xfrm>
          <a:prstGeom prst="roundRect">
            <a:avLst>
              <a:gd name="adj" fmla="val 29154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7"/>
          <p:cNvSpPr/>
          <p:nvPr/>
        </p:nvSpPr>
        <p:spPr>
          <a:xfrm>
            <a:off x="541855" y="5482828"/>
            <a:ext cx="75848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🍽</a:t>
            </a:r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Restaurant</a:t>
            </a:r>
            <a:endParaRPr lang="en-US" sz="800" dirty="0"/>
          </a:p>
        </p:txBody>
      </p:sp>
      <p:sp>
        <p:nvSpPr>
          <p:cNvPr id="81" name="Text 78"/>
          <p:cNvSpPr/>
          <p:nvPr/>
        </p:nvSpPr>
        <p:spPr>
          <a:xfrm>
            <a:off x="1277838" y="5472327"/>
            <a:ext cx="465795" cy="196025"/>
          </a:xfrm>
          <a:prstGeom prst="roundRect">
            <a:avLst>
              <a:gd name="adj" fmla="val 29154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79"/>
          <p:cNvSpPr/>
          <p:nvPr/>
        </p:nvSpPr>
        <p:spPr>
          <a:xfrm>
            <a:off x="1277838" y="5482828"/>
            <a:ext cx="46579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💇</a:t>
            </a:r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Salon</a:t>
            </a:r>
            <a:endParaRPr lang="en-US" sz="800" dirty="0"/>
          </a:p>
        </p:txBody>
      </p:sp>
      <p:sp>
        <p:nvSpPr>
          <p:cNvPr id="83" name="Text 80"/>
          <p:cNvSpPr/>
          <p:nvPr/>
        </p:nvSpPr>
        <p:spPr>
          <a:xfrm>
            <a:off x="1786496" y="5472327"/>
            <a:ext cx="640370" cy="196025"/>
          </a:xfrm>
          <a:prstGeom prst="roundRect">
            <a:avLst>
              <a:gd name="adj" fmla="val 29154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1"/>
          <p:cNvSpPr/>
          <p:nvPr/>
        </p:nvSpPr>
        <p:spPr>
          <a:xfrm>
            <a:off x="1758609" y="5482828"/>
            <a:ext cx="69614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💊</a:t>
            </a:r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Pharmacie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2469728" y="5472327"/>
            <a:ext cx="403064" cy="196025"/>
          </a:xfrm>
          <a:prstGeom prst="roundRect">
            <a:avLst>
              <a:gd name="adj" fmla="val 29154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3"/>
          <p:cNvSpPr/>
          <p:nvPr/>
        </p:nvSpPr>
        <p:spPr>
          <a:xfrm>
            <a:off x="2469728" y="5482828"/>
            <a:ext cx="4030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🚕</a:t>
            </a:r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Taxi</a:t>
            </a:r>
            <a:endParaRPr lang="en-US" sz="800" dirty="0"/>
          </a:p>
        </p:txBody>
      </p:sp>
      <p:sp>
        <p:nvSpPr>
          <p:cNvPr id="87" name="Text 84"/>
          <p:cNvSpPr/>
          <p:nvPr/>
        </p:nvSpPr>
        <p:spPr>
          <a:xfrm>
            <a:off x="2915655" y="5472327"/>
            <a:ext cx="570495" cy="196025"/>
          </a:xfrm>
          <a:prstGeom prst="roundRect">
            <a:avLst>
              <a:gd name="adj" fmla="val 29154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5"/>
          <p:cNvSpPr/>
          <p:nvPr/>
        </p:nvSpPr>
        <p:spPr>
          <a:xfrm>
            <a:off x="2884002" y="5482828"/>
            <a:ext cx="63380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👔</a:t>
            </a:r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Pressing</a:t>
            </a:r>
            <a:endParaRPr lang="en-US" sz="800" dirty="0"/>
          </a:p>
        </p:txBody>
      </p:sp>
      <p:sp>
        <p:nvSpPr>
          <p:cNvPr id="89" name="Text 86"/>
          <p:cNvSpPr/>
          <p:nvPr/>
        </p:nvSpPr>
        <p:spPr>
          <a:xfrm>
            <a:off x="3529013" y="5472327"/>
            <a:ext cx="461330" cy="196025"/>
          </a:xfrm>
          <a:prstGeom prst="roundRect">
            <a:avLst>
              <a:gd name="adj" fmla="val 29154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87"/>
          <p:cNvSpPr/>
          <p:nvPr/>
        </p:nvSpPr>
        <p:spPr>
          <a:xfrm>
            <a:off x="3529013" y="5482828"/>
            <a:ext cx="46133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📚</a:t>
            </a:r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Ecole</a:t>
            </a:r>
            <a:endParaRPr lang="en-US" sz="800" dirty="0"/>
          </a:p>
        </p:txBody>
      </p:sp>
      <p:sp>
        <p:nvSpPr>
          <p:cNvPr id="91" name="Text 88"/>
          <p:cNvSpPr/>
          <p:nvPr/>
        </p:nvSpPr>
        <p:spPr>
          <a:xfrm>
            <a:off x="4033205" y="5472327"/>
            <a:ext cx="736476" cy="196025"/>
          </a:xfrm>
          <a:prstGeom prst="roundRect">
            <a:avLst>
              <a:gd name="adj" fmla="val 29154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89"/>
          <p:cNvSpPr/>
          <p:nvPr/>
        </p:nvSpPr>
        <p:spPr>
          <a:xfrm>
            <a:off x="4033205" y="5482828"/>
            <a:ext cx="73647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🛒</a:t>
            </a:r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Supermarché</a:t>
            </a:r>
            <a:endParaRPr lang="en-US" sz="800" dirty="0"/>
          </a:p>
        </p:txBody>
      </p:sp>
      <p:sp>
        <p:nvSpPr>
          <p:cNvPr id="93" name="Text 90"/>
          <p:cNvSpPr/>
          <p:nvPr/>
        </p:nvSpPr>
        <p:spPr>
          <a:xfrm>
            <a:off x="4812543" y="5472327"/>
            <a:ext cx="548729" cy="196025"/>
          </a:xfrm>
          <a:prstGeom prst="roundRect">
            <a:avLst>
              <a:gd name="adj" fmla="val 29154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Text 91"/>
          <p:cNvSpPr/>
          <p:nvPr/>
        </p:nvSpPr>
        <p:spPr>
          <a:xfrm>
            <a:off x="4770008" y="5482828"/>
            <a:ext cx="63380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🏥</a:t>
            </a:r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Clinique</a:t>
            </a:r>
            <a:endParaRPr lang="en-US" sz="800" dirty="0"/>
          </a:p>
        </p:txBody>
      </p:sp>
      <p:sp>
        <p:nvSpPr>
          <p:cNvPr id="95" name="Text 92"/>
          <p:cNvSpPr/>
          <p:nvPr/>
        </p:nvSpPr>
        <p:spPr>
          <a:xfrm>
            <a:off x="5404135" y="5472327"/>
            <a:ext cx="491244" cy="196025"/>
          </a:xfrm>
          <a:prstGeom prst="roundRect">
            <a:avLst>
              <a:gd name="adj" fmla="val 29154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Text 93"/>
          <p:cNvSpPr/>
          <p:nvPr/>
        </p:nvSpPr>
        <p:spPr>
          <a:xfrm>
            <a:off x="5395199" y="5482828"/>
            <a:ext cx="50911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✈ Voyage</a:t>
            </a:r>
            <a:endParaRPr lang="en-US" sz="800" dirty="0"/>
          </a:p>
        </p:txBody>
      </p:sp>
      <p:sp>
        <p:nvSpPr>
          <p:cNvPr id="97" name="Text 94"/>
          <p:cNvSpPr/>
          <p:nvPr/>
        </p:nvSpPr>
        <p:spPr>
          <a:xfrm>
            <a:off x="5938242" y="5472327"/>
            <a:ext cx="684237" cy="196025"/>
          </a:xfrm>
          <a:prstGeom prst="roundRect">
            <a:avLst>
              <a:gd name="adj" fmla="val 29154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5"/>
          <p:cNvSpPr/>
          <p:nvPr/>
        </p:nvSpPr>
        <p:spPr>
          <a:xfrm>
            <a:off x="5938242" y="5482828"/>
            <a:ext cx="68423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🥐</a:t>
            </a:r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Boulangerie</a:t>
            </a:r>
            <a:endParaRPr lang="en-US" sz="800" dirty="0"/>
          </a:p>
        </p:txBody>
      </p:sp>
      <p:sp>
        <p:nvSpPr>
          <p:cNvPr id="99" name="Text 96"/>
          <p:cNvSpPr/>
          <p:nvPr/>
        </p:nvSpPr>
        <p:spPr>
          <a:xfrm>
            <a:off x="6665342" y="5472327"/>
            <a:ext cx="526852" cy="196025"/>
          </a:xfrm>
          <a:prstGeom prst="roundRect">
            <a:avLst>
              <a:gd name="adj" fmla="val 29154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Text 97"/>
          <p:cNvSpPr/>
          <p:nvPr/>
        </p:nvSpPr>
        <p:spPr>
          <a:xfrm>
            <a:off x="6665342" y="5482828"/>
            <a:ext cx="52685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🔧</a:t>
            </a:r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Garage</a:t>
            </a:r>
            <a:endParaRPr lang="en-US" sz="800" dirty="0"/>
          </a:p>
        </p:txBody>
      </p:sp>
      <p:sp>
        <p:nvSpPr>
          <p:cNvPr id="101" name="Text 98"/>
          <p:cNvSpPr/>
          <p:nvPr/>
        </p:nvSpPr>
        <p:spPr>
          <a:xfrm>
            <a:off x="7235056" y="5472327"/>
            <a:ext cx="452624" cy="196025"/>
          </a:xfrm>
          <a:prstGeom prst="roundRect">
            <a:avLst>
              <a:gd name="adj" fmla="val 29154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Text 99"/>
          <p:cNvSpPr/>
          <p:nvPr/>
        </p:nvSpPr>
        <p:spPr>
          <a:xfrm>
            <a:off x="7235056" y="5482828"/>
            <a:ext cx="45262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⚽ Sport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00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969" dirty="0"/>
          </a:p>
        </p:txBody>
      </p:sp>
      <p:sp>
        <p:nvSpPr>
          <p:cNvPr id="3" name="Text 1"/>
          <p:cNvSpPr/>
          <p:nvPr/>
        </p:nvSpPr>
        <p:spPr>
          <a:xfrm>
            <a:off x="742950" y="400050"/>
            <a:ext cx="4252670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Moteur IA — OpenRouter Multimodal Prêt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4766332" y="446056"/>
            <a:ext cx="400162" cy="208026"/>
          </a:xfrm>
          <a:prstGeom prst="roundRect">
            <a:avLst>
              <a:gd name="adj" fmla="val 4574176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6332" y="457200"/>
            <a:ext cx="40016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PRÊT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42950" y="742950"/>
            <a:ext cx="7943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et préparation du module AI Engine pour OpenRouter multimodal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2938" y="1050131"/>
            <a:ext cx="1548185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Fournisseurs Supportés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457200" y="105191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9" name="Text 7"/>
          <p:cNvSpPr/>
          <p:nvPr/>
        </p:nvSpPr>
        <p:spPr>
          <a:xfrm>
            <a:off x="482203" y="1293019"/>
            <a:ext cx="1367470" cy="192881"/>
          </a:xfrm>
          <a:prstGeom prst="roundRect">
            <a:avLst>
              <a:gd name="adj" fmla="val 29630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5800" y="1339453"/>
            <a:ext cx="1224595" cy="128016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OpenRouter (+100 modèles)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557213" y="133945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984" dirty="0"/>
          </a:p>
        </p:txBody>
      </p:sp>
      <p:sp>
        <p:nvSpPr>
          <p:cNvPr id="12" name="Text 10"/>
          <p:cNvSpPr/>
          <p:nvPr/>
        </p:nvSpPr>
        <p:spPr>
          <a:xfrm>
            <a:off x="1924683" y="1277445"/>
            <a:ext cx="767172" cy="224028"/>
          </a:xfrm>
          <a:prstGeom prst="roundRect">
            <a:avLst>
              <a:gd name="adj" fmla="val 25510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861889" y="1289447"/>
            <a:ext cx="8927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OpenAI GPT-4o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63292" y="1277445"/>
            <a:ext cx="814834" cy="224028"/>
          </a:xfrm>
          <a:prstGeom prst="roundRect">
            <a:avLst>
              <a:gd name="adj" fmla="val 25510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763292" y="1289447"/>
            <a:ext cx="8148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Anthropic Claude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49563" y="1277445"/>
            <a:ext cx="728997" cy="224028"/>
          </a:xfrm>
          <a:prstGeom prst="roundRect">
            <a:avLst>
              <a:gd name="adj" fmla="val 25510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593458" y="1289447"/>
            <a:ext cx="84120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Google Gemini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49998" y="1277445"/>
            <a:ext cx="605098" cy="224028"/>
          </a:xfrm>
          <a:prstGeom prst="roundRect">
            <a:avLst>
              <a:gd name="adj" fmla="val 25510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425456" y="1289447"/>
            <a:ext cx="65418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Meta Llama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26534" y="1277445"/>
            <a:ext cx="409649" cy="224028"/>
          </a:xfrm>
          <a:prstGeom prst="roundRect">
            <a:avLst>
              <a:gd name="adj" fmla="val 25510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89388" y="1289447"/>
            <a:ext cx="48394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Mistral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2938" y="1653778"/>
            <a:ext cx="1652411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Nouveautés Multimodales</a:t>
            </a:r>
            <a:endParaRPr lang="en-US" sz="844" dirty="0"/>
          </a:p>
        </p:txBody>
      </p:sp>
      <p:sp>
        <p:nvSpPr>
          <p:cNvPr id="23" name="Text 21"/>
          <p:cNvSpPr/>
          <p:nvPr/>
        </p:nvSpPr>
        <p:spPr>
          <a:xfrm>
            <a:off x="457200" y="165556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457200" y="187880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2866095" y="1885950"/>
            <a:ext cx="550292" cy="114300"/>
          </a:xfrm>
          <a:prstGeom prst="roundRect">
            <a:avLst>
              <a:gd name="adj" fmla="val 33333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8650" y="1871663"/>
            <a:ext cx="5143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 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vision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(analyse d'images) — messages avec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0A5FA"/>
                </a:solidFill>
                <a:highlight>
                  <a:srgbClr val="3B82F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image_url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206097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628650" y="2053828"/>
            <a:ext cx="5143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 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audio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(transcription) — prêt pour intégration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224313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015864" y="2250281"/>
            <a:ext cx="1221246" cy="114300"/>
          </a:xfrm>
          <a:prstGeom prst="roundRect">
            <a:avLst>
              <a:gd name="adj" fmla="val 33333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8650" y="2235994"/>
            <a:ext cx="5143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Interface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0A5FA"/>
                </a:solidFill>
                <a:highlight>
                  <a:srgbClr val="3B82F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AIBotConfig.multipodal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enabled, vision, audio, imageGen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242530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733252" y="2432447"/>
            <a:ext cx="1479314" cy="114300"/>
          </a:xfrm>
          <a:prstGeom prst="roundRect">
            <a:avLst>
              <a:gd name="adj" fmla="val 33333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28650" y="2418159"/>
            <a:ext cx="5143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Messages multi-contenus: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0A5FA"/>
                </a:solidFill>
                <a:highlight>
                  <a:srgbClr val="3B82F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| Array&lt;{type, ...}&gt;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2938" y="2743200"/>
            <a:ext cx="2059851" cy="13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Contexte Business Anti-Hallucination</a:t>
            </a:r>
            <a:endParaRPr lang="en-US" sz="844" dirty="0"/>
          </a:p>
        </p:txBody>
      </p:sp>
      <p:sp>
        <p:nvSpPr>
          <p:cNvPr id="36" name="Text 34"/>
          <p:cNvSpPr/>
          <p:nvPr/>
        </p:nvSpPr>
        <p:spPr>
          <a:xfrm>
            <a:off x="457200" y="274498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457200" y="296822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628650" y="2961084"/>
            <a:ext cx="5143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Données réelles injectées dans le prompt système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" y="315039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628650" y="3143250"/>
            <a:ext cx="5143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Prix réels, stock, horaires — pas de données fictives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" y="332541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EF444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628650" y="3325416"/>
            <a:ext cx="5143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F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Règle stricte: NE JAMAIS inventer prix/produits/stock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7200" y="351472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628650" y="3507581"/>
            <a:ext cx="5143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Prompt système par type de business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(12 templates)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975747" y="1039416"/>
            <a:ext cx="2707481" cy="4215929"/>
          </a:xfrm>
          <a:prstGeom prst="roundRect">
            <a:avLst>
              <a:gd name="adj" fmla="val 5629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0769" y="1214438"/>
            <a:ext cx="2357438" cy="1954262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6154341" y="1218009"/>
            <a:ext cx="2350294" cy="1947118"/>
          </a:xfrm>
          <a:prstGeom prst="roundRect">
            <a:avLst>
              <a:gd name="adj" fmla="val 5870"/>
            </a:avLst>
          </a:prstGeom>
          <a:noFill/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6443663" y="1350169"/>
            <a:ext cx="106974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Multimodal Ready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6272213" y="13465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50" name="Text 47"/>
          <p:cNvSpPr/>
          <p:nvPr/>
        </p:nvSpPr>
        <p:spPr>
          <a:xfrm>
            <a:off x="6272213" y="1543050"/>
            <a:ext cx="2224278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Vision: Analyse d'images uploadées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6272213" y="1714500"/>
            <a:ext cx="2224278" cy="16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Audio: Transcription vocale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6272213" y="1907381"/>
            <a:ext cx="22242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Image Gen: Génération d'images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6275784" y="2110978"/>
            <a:ext cx="2107406" cy="932706"/>
          </a:xfrm>
          <a:prstGeom prst="roundRect">
            <a:avLst>
              <a:gd name="adj" fmla="val 8170"/>
            </a:avLst>
          </a:prstGeom>
          <a:solidFill>
            <a:srgbClr val="10B981">
              <a:alpha val="10000"/>
            </a:srgbClr>
          </a:solidFill>
          <a:ln w="7144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6272213" y="2107406"/>
            <a:ext cx="2114550" cy="939850"/>
          </a:xfrm>
          <a:prstGeom prst="rect">
            <a:avLst/>
          </a:prstGeom>
          <a:noFill/>
          <a:ln/>
        </p:spPr>
        <p:txBody>
          <a:bodyPr wrap="square" lIns="85725" tIns="85725" rIns="85725" bIns="85725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enabled: boolean,</a:t>
            </a:r>
            <a:endParaRPr lang="en-US" sz="800" dirty="0"/>
          </a:p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vision: boolean,</a:t>
            </a:r>
            <a:endParaRPr lang="en-US" sz="800" dirty="0"/>
          </a:p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audio: boolean,</a:t>
            </a:r>
            <a:endParaRPr lang="en-US" sz="800" dirty="0"/>
          </a:p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imageGen: boolean</a:t>
            </a:r>
            <a:endParaRPr lang="en-US" sz="800" dirty="0"/>
          </a:p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6154341" y="3286571"/>
            <a:ext cx="2350294" cy="1060847"/>
          </a:xfrm>
          <a:prstGeom prst="roundRect">
            <a:avLst>
              <a:gd name="adj" fmla="val 8979"/>
            </a:avLst>
          </a:prstGeom>
          <a:solidFill>
            <a:srgbClr val="EF4444">
              <a:alpha val="8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6412431" y="3404443"/>
            <a:ext cx="529499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EF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Sécurité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6257925" y="340265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EF444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25" dirty="0"/>
          </a:p>
        </p:txBody>
      </p:sp>
      <p:sp>
        <p:nvSpPr>
          <p:cNvPr id="58" name="Text 55"/>
          <p:cNvSpPr/>
          <p:nvPr/>
        </p:nvSpPr>
        <p:spPr>
          <a:xfrm>
            <a:off x="6257925" y="3600896"/>
            <a:ext cx="15070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/telegram/ai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7600950" y="3600896"/>
            <a:ext cx="800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 requise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6257925" y="3772346"/>
            <a:ext cx="16459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/ai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7600950" y="3772346"/>
            <a:ext cx="8001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Auth + Rate 20/min</a:t>
            </a:r>
            <a:endParaRPr lang="en-US" sz="675" dirty="0"/>
          </a:p>
        </p:txBody>
      </p:sp>
      <p:sp>
        <p:nvSpPr>
          <p:cNvPr id="62" name="Text 59"/>
          <p:cNvSpPr/>
          <p:nvPr/>
        </p:nvSpPr>
        <p:spPr>
          <a:xfrm>
            <a:off x="6257925" y="3943796"/>
            <a:ext cx="16459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apiKey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7600950" y="3943796"/>
            <a:ext cx="8001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Jamais au client</a:t>
            </a:r>
            <a:endParaRPr lang="en-US" sz="675" dirty="0"/>
          </a:p>
        </p:txBody>
      </p:sp>
      <p:sp>
        <p:nvSpPr>
          <p:cNvPr id="64" name="Text 61"/>
          <p:cNvSpPr/>
          <p:nvPr/>
        </p:nvSpPr>
        <p:spPr>
          <a:xfrm>
            <a:off x="6257925" y="4115246"/>
            <a:ext cx="164592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Stockage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7600950" y="4115246"/>
            <a:ext cx="800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JSON dans DB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6150769" y="4465290"/>
            <a:ext cx="2357438" cy="615032"/>
          </a:xfrm>
          <a:prstGeom prst="roundRect">
            <a:avLst>
              <a:gd name="adj" fmla="val 1239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4"/>
          <p:cNvSpPr/>
          <p:nvPr/>
        </p:nvSpPr>
        <p:spPr>
          <a:xfrm>
            <a:off x="6236494" y="4551015"/>
            <a:ext cx="2185988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OpenRouter Headers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6236494" y="4711750"/>
            <a:ext cx="2185988" cy="28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HTTP-Referer</a:t>
            </a:r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tracking</a:t>
            </a:r>
            <a:endParaRPr lang="en-US" sz="800" dirty="0"/>
          </a:p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X-Title</a:t>
            </a:r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app ID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00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969" dirty="0"/>
          </a:p>
        </p:txBody>
      </p:sp>
      <p:sp>
        <p:nvSpPr>
          <p:cNvPr id="3" name="Text 1"/>
          <p:cNvSpPr/>
          <p:nvPr/>
        </p:nvSpPr>
        <p:spPr>
          <a:xfrm>
            <a:off x="742950" y="400050"/>
            <a:ext cx="1652969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Modules CRM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2151050" y="446056"/>
            <a:ext cx="1190885" cy="208026"/>
          </a:xfrm>
          <a:prstGeom prst="roundRect">
            <a:avLst>
              <a:gd name="adj" fmla="val 4574176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51050" y="457200"/>
            <a:ext cx="119088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MODULES SÉCURISÉS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42950" y="742950"/>
            <a:ext cx="7943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des modules CRM principaux — Isolation multi-tenant et validation complète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0772" y="1039416"/>
            <a:ext cx="2659819" cy="182880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4344" y="1042988"/>
            <a:ext cx="2652675" cy="2143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2931" y="1171575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7934" y="119657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1" name="Text 9"/>
          <p:cNvSpPr/>
          <p:nvPr/>
        </p:nvSpPr>
        <p:spPr>
          <a:xfrm>
            <a:off x="907256" y="1214438"/>
            <a:ext cx="62593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Contacts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56990" y="1208151"/>
            <a:ext cx="551881" cy="184023"/>
          </a:xfrm>
          <a:prstGeom prst="roundRect">
            <a:avLst>
              <a:gd name="adj" fmla="val 20704"/>
            </a:avLst>
          </a:prstGeom>
          <a:solidFill>
            <a:srgbClr val="10B981">
              <a:alpha val="15000"/>
            </a:srgbClr>
          </a:solidFill>
          <a:ln w="7144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28019" y="1218009"/>
            <a:ext cx="60982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17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SECURISÉ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2931" y="152161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15" name="Text 13"/>
          <p:cNvSpPr/>
          <p:nvPr/>
        </p:nvSpPr>
        <p:spPr>
          <a:xfrm>
            <a:off x="735806" y="1514475"/>
            <a:ext cx="2252625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 JWT + 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companyId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isolation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2931" y="166728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17" name="Text 15"/>
          <p:cNvSpPr/>
          <p:nvPr/>
        </p:nvSpPr>
        <p:spPr>
          <a:xfrm>
            <a:off x="735806" y="1660141"/>
            <a:ext cx="2252625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checkPlanLimit maxContacts</a:t>
            </a:r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avant création</a:t>
            </a:r>
            <a:endParaRPr lang="en-US" sz="619" dirty="0"/>
          </a:p>
        </p:txBody>
      </p:sp>
      <p:sp>
        <p:nvSpPr>
          <p:cNvPr id="18" name="Text 16"/>
          <p:cNvSpPr/>
          <p:nvPr/>
        </p:nvSpPr>
        <p:spPr>
          <a:xfrm>
            <a:off x="592931" y="181295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19" name="Text 17"/>
          <p:cNvSpPr/>
          <p:nvPr/>
        </p:nvSpPr>
        <p:spPr>
          <a:xfrm>
            <a:off x="735806" y="1805806"/>
            <a:ext cx="2252625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 source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2931" y="195861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21" name="Text 19"/>
          <p:cNvSpPr/>
          <p:nvPr/>
        </p:nvSpPr>
        <p:spPr>
          <a:xfrm>
            <a:off x="1355973" y="1951472"/>
            <a:ext cx="214759" cy="107156"/>
          </a:xfrm>
          <a:prstGeom prst="roundRect">
            <a:avLst>
              <a:gd name="adj" fmla="val 35556"/>
            </a:avLst>
          </a:prstGeom>
          <a:solidFill>
            <a:srgbClr val="F59E0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35806" y="1951472"/>
            <a:ext cx="2252625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 limit: Starter 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59E0B"/>
                </a:solidFill>
                <a:highlight>
                  <a:srgbClr val="F59E0B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42035" y="1039416"/>
            <a:ext cx="2659819" cy="182880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245607" y="1042988"/>
            <a:ext cx="2652675" cy="21431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74194" y="1171575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99197" y="119657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406" dirty="0"/>
          </a:p>
        </p:txBody>
      </p:sp>
      <p:sp>
        <p:nvSpPr>
          <p:cNvPr id="27" name="Text 25"/>
          <p:cNvSpPr/>
          <p:nvPr/>
        </p:nvSpPr>
        <p:spPr>
          <a:xfrm>
            <a:off x="3677915" y="1214438"/>
            <a:ext cx="61456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Produits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38253" y="1208151"/>
            <a:ext cx="551881" cy="184023"/>
          </a:xfrm>
          <a:prstGeom prst="roundRect">
            <a:avLst>
              <a:gd name="adj" fmla="val 20704"/>
            </a:avLst>
          </a:prstGeom>
          <a:solidFill>
            <a:srgbClr val="10B981">
              <a:alpha val="15000"/>
            </a:srgbClr>
          </a:solidFill>
          <a:ln w="7144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09282" y="1218009"/>
            <a:ext cx="60982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17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SECURISÉ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74194" y="152161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31" name="Text 29"/>
          <p:cNvSpPr/>
          <p:nvPr/>
        </p:nvSpPr>
        <p:spPr>
          <a:xfrm>
            <a:off x="3517069" y="1514475"/>
            <a:ext cx="2252625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 + 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companyId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74194" y="166728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33" name="Text 31"/>
          <p:cNvSpPr/>
          <p:nvPr/>
        </p:nvSpPr>
        <p:spPr>
          <a:xfrm>
            <a:off x="3517069" y="1660141"/>
            <a:ext cx="2252625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checkPlanLimit maxProducts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74194" y="181295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35" name="Text 33"/>
          <p:cNvSpPr/>
          <p:nvPr/>
        </p:nvSpPr>
        <p:spPr>
          <a:xfrm>
            <a:off x="3517069" y="1805806"/>
            <a:ext cx="2252625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 prix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74194" y="195861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37" name="Text 35"/>
          <p:cNvSpPr/>
          <p:nvPr/>
        </p:nvSpPr>
        <p:spPr>
          <a:xfrm>
            <a:off x="4137236" y="1951472"/>
            <a:ext cx="171785" cy="107156"/>
          </a:xfrm>
          <a:prstGeom prst="roundRect">
            <a:avLst>
              <a:gd name="adj" fmla="val 35556"/>
            </a:avLst>
          </a:prstGeom>
          <a:solidFill>
            <a:srgbClr val="F59E0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517069" y="1951472"/>
            <a:ext cx="2252625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 limit: Starter 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59E0B"/>
                </a:solidFill>
                <a:highlight>
                  <a:srgbClr val="F59E0B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23297" y="1039416"/>
            <a:ext cx="2659931" cy="182880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026869" y="1042988"/>
            <a:ext cx="2652787" cy="21431"/>
          </a:xfrm>
          <a:prstGeom prst="rect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155457" y="1171575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8B5C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180460" y="119657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🛒</a:t>
            </a:r>
            <a:endParaRPr lang="en-US" sz="1406" dirty="0"/>
          </a:p>
        </p:txBody>
      </p:sp>
      <p:sp>
        <p:nvSpPr>
          <p:cNvPr id="43" name="Text 41"/>
          <p:cNvSpPr/>
          <p:nvPr/>
        </p:nvSpPr>
        <p:spPr>
          <a:xfrm>
            <a:off x="6469782" y="1214438"/>
            <a:ext cx="87811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Commandes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019627" y="1208151"/>
            <a:ext cx="551881" cy="184023"/>
          </a:xfrm>
          <a:prstGeom prst="roundRect">
            <a:avLst>
              <a:gd name="adj" fmla="val 20704"/>
            </a:avLst>
          </a:prstGeom>
          <a:solidFill>
            <a:srgbClr val="10B981">
              <a:alpha val="15000"/>
            </a:srgbClr>
          </a:solidFill>
          <a:ln w="7144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990656" y="1218009"/>
            <a:ext cx="60982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17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SECURISÉ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55457" y="152161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7" name="Text 45"/>
          <p:cNvSpPr/>
          <p:nvPr/>
        </p:nvSpPr>
        <p:spPr>
          <a:xfrm>
            <a:off x="6298332" y="1514475"/>
            <a:ext cx="2252737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Prix validés depuis DB (pas du client)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155457" y="166728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9" name="Text 47"/>
          <p:cNvSpPr/>
          <p:nvPr/>
        </p:nvSpPr>
        <p:spPr>
          <a:xfrm>
            <a:off x="6298332" y="1660141"/>
            <a:ext cx="2252737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Transaction atomique (create + stock)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55457" y="181295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51" name="Text 49"/>
          <p:cNvSpPr/>
          <p:nvPr/>
        </p:nvSpPr>
        <p:spPr>
          <a:xfrm>
            <a:off x="6298332" y="1805806"/>
            <a:ext cx="2252737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Stock check avant création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155457" y="195861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53" name="Text 51"/>
          <p:cNvSpPr/>
          <p:nvPr/>
        </p:nvSpPr>
        <p:spPr>
          <a:xfrm>
            <a:off x="6298332" y="1951472"/>
            <a:ext cx="2252737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Annulation = restauration stock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60772" y="2989659"/>
            <a:ext cx="2659819" cy="182880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64344" y="2993231"/>
            <a:ext cx="2652675" cy="21431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92931" y="3121819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17934" y="3146822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406" dirty="0"/>
          </a:p>
        </p:txBody>
      </p:sp>
      <p:sp>
        <p:nvSpPr>
          <p:cNvPr id="58" name="Text 56"/>
          <p:cNvSpPr/>
          <p:nvPr/>
        </p:nvSpPr>
        <p:spPr>
          <a:xfrm>
            <a:off x="907256" y="3164681"/>
            <a:ext cx="73194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Paiements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456990" y="3158395"/>
            <a:ext cx="551881" cy="184023"/>
          </a:xfrm>
          <a:prstGeom prst="roundRect">
            <a:avLst>
              <a:gd name="adj" fmla="val 20704"/>
            </a:avLst>
          </a:prstGeom>
          <a:solidFill>
            <a:srgbClr val="10B981">
              <a:alpha val="15000"/>
            </a:srgbClr>
          </a:solidFill>
          <a:ln w="7144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2428019" y="3168253"/>
            <a:ext cx="60982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17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SECURISÉ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92931" y="347186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62" name="Text 60"/>
          <p:cNvSpPr/>
          <p:nvPr/>
        </p:nvSpPr>
        <p:spPr>
          <a:xfrm>
            <a:off x="735806" y="3464719"/>
            <a:ext cx="2252625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Montant vérifié contre 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PLAN_PRICES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92931" y="361752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64" name="Text 62"/>
          <p:cNvSpPr/>
          <p:nvPr/>
        </p:nvSpPr>
        <p:spPr>
          <a:xfrm>
            <a:off x="735806" y="3610384"/>
            <a:ext cx="2252625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Admin: confirm/reject + transaction serializable</a:t>
            </a:r>
            <a:endParaRPr lang="en-US" sz="619" dirty="0"/>
          </a:p>
        </p:txBody>
      </p:sp>
      <p:sp>
        <p:nvSpPr>
          <p:cNvPr id="65" name="Text 63"/>
          <p:cNvSpPr/>
          <p:nvPr/>
        </p:nvSpPr>
        <p:spPr>
          <a:xfrm>
            <a:off x="592931" y="376319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66" name="Text 64"/>
          <p:cNvSpPr/>
          <p:nvPr/>
        </p:nvSpPr>
        <p:spPr>
          <a:xfrm>
            <a:off x="1561467" y="3756050"/>
            <a:ext cx="214759" cy="107156"/>
          </a:xfrm>
          <a:prstGeom prst="roundRect">
            <a:avLst>
              <a:gd name="adj" fmla="val 35556"/>
            </a:avLst>
          </a:prstGeom>
          <a:solidFill>
            <a:srgbClr val="F59E0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735806" y="3756050"/>
            <a:ext cx="2252625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Expiration automatique 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59E0B"/>
                </a:solidFill>
                <a:highlight>
                  <a:srgbClr val="F59E0B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24h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92931" y="390885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69" name="Text 67"/>
          <p:cNvSpPr/>
          <p:nvPr/>
        </p:nvSpPr>
        <p:spPr>
          <a:xfrm>
            <a:off x="735806" y="3901715"/>
            <a:ext cx="2252625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Chariow: checkout + webhook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242035" y="2989659"/>
            <a:ext cx="2659819" cy="182880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3245607" y="2993231"/>
            <a:ext cx="2652675" cy="21431"/>
          </a:xfrm>
          <a:prstGeom prst="rect">
            <a:avLst/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3374194" y="3121819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EC489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3399197" y="3146822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EC48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406" dirty="0"/>
          </a:p>
        </p:txBody>
      </p:sp>
      <p:sp>
        <p:nvSpPr>
          <p:cNvPr id="74" name="Text 72"/>
          <p:cNvSpPr/>
          <p:nvPr/>
        </p:nvSpPr>
        <p:spPr>
          <a:xfrm>
            <a:off x="3646130" y="3164681"/>
            <a:ext cx="75483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Livraisons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238253" y="3158395"/>
            <a:ext cx="551881" cy="184023"/>
          </a:xfrm>
          <a:prstGeom prst="roundRect">
            <a:avLst>
              <a:gd name="adj" fmla="val 20704"/>
            </a:avLst>
          </a:prstGeom>
          <a:solidFill>
            <a:srgbClr val="10B981">
              <a:alpha val="15000"/>
            </a:srgbClr>
          </a:solidFill>
          <a:ln w="7144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5209282" y="3168253"/>
            <a:ext cx="60982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17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SECURISÉ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3374194" y="347186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78" name="Text 76"/>
          <p:cNvSpPr/>
          <p:nvPr/>
        </p:nvSpPr>
        <p:spPr>
          <a:xfrm>
            <a:off x="3517069" y="3464719"/>
            <a:ext cx="2252625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 + 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companyId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374194" y="361752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80" name="Text 78"/>
          <p:cNvSpPr/>
          <p:nvPr/>
        </p:nvSpPr>
        <p:spPr>
          <a:xfrm>
            <a:off x="3517069" y="3610384"/>
            <a:ext cx="2252625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Création et suivi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3374194" y="376319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82" name="Text 80"/>
          <p:cNvSpPr/>
          <p:nvPr/>
        </p:nvSpPr>
        <p:spPr>
          <a:xfrm>
            <a:off x="3517069" y="3756050"/>
            <a:ext cx="2252625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Telegram chatId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tracking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023297" y="2989659"/>
            <a:ext cx="2659931" cy="182880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6026869" y="2993231"/>
            <a:ext cx="2652787" cy="21431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6155457" y="3121819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06B6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6180460" y="3146822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406" dirty="0"/>
          </a:p>
        </p:txBody>
      </p:sp>
      <p:sp>
        <p:nvSpPr>
          <p:cNvPr id="87" name="Text 85"/>
          <p:cNvSpPr/>
          <p:nvPr/>
        </p:nvSpPr>
        <p:spPr>
          <a:xfrm>
            <a:off x="6469782" y="3164681"/>
            <a:ext cx="82938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Campagnes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8019627" y="3158395"/>
            <a:ext cx="551881" cy="184023"/>
          </a:xfrm>
          <a:prstGeom prst="roundRect">
            <a:avLst>
              <a:gd name="adj" fmla="val 20704"/>
            </a:avLst>
          </a:prstGeom>
          <a:solidFill>
            <a:srgbClr val="10B981">
              <a:alpha val="15000"/>
            </a:srgbClr>
          </a:solidFill>
          <a:ln w="7144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7990656" y="3168253"/>
            <a:ext cx="60982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17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SECURISÉ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6155457" y="347186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91" name="Text 89"/>
          <p:cNvSpPr/>
          <p:nvPr/>
        </p:nvSpPr>
        <p:spPr>
          <a:xfrm>
            <a:off x="6298332" y="3464719"/>
            <a:ext cx="2252737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checkPlanLimit maxCampaigns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6155457" y="361752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93" name="Text 91"/>
          <p:cNvSpPr/>
          <p:nvPr/>
        </p:nvSpPr>
        <p:spPr>
          <a:xfrm>
            <a:off x="6298332" y="3610384"/>
            <a:ext cx="2252737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Segments: all/leads/customers/vip/inactive</a:t>
            </a:r>
            <a:endParaRPr lang="en-US" sz="619" dirty="0"/>
          </a:p>
        </p:txBody>
      </p:sp>
      <p:sp>
        <p:nvSpPr>
          <p:cNvPr id="94" name="Text 92"/>
          <p:cNvSpPr/>
          <p:nvPr/>
        </p:nvSpPr>
        <p:spPr>
          <a:xfrm>
            <a:off x="6155457" y="376319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95" name="Text 93"/>
          <p:cNvSpPr/>
          <p:nvPr/>
        </p:nvSpPr>
        <p:spPr>
          <a:xfrm>
            <a:off x="6756983" y="3756050"/>
            <a:ext cx="128811" cy="107156"/>
          </a:xfrm>
          <a:prstGeom prst="roundRect">
            <a:avLst>
              <a:gd name="adj" fmla="val 35556"/>
            </a:avLst>
          </a:prstGeom>
          <a:solidFill>
            <a:srgbClr val="F59E0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Text 94"/>
          <p:cNvSpPr/>
          <p:nvPr/>
        </p:nvSpPr>
        <p:spPr>
          <a:xfrm>
            <a:off x="7051774" y="3756050"/>
            <a:ext cx="171785" cy="107156"/>
          </a:xfrm>
          <a:prstGeom prst="roundRect">
            <a:avLst>
              <a:gd name="adj" fmla="val 35556"/>
            </a:avLst>
          </a:prstGeom>
          <a:solidFill>
            <a:srgbClr val="F59E0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7376480" y="3756050"/>
            <a:ext cx="171785" cy="107156"/>
          </a:xfrm>
          <a:prstGeom prst="roundRect">
            <a:avLst>
              <a:gd name="adj" fmla="val 35556"/>
            </a:avLst>
          </a:prstGeom>
          <a:solidFill>
            <a:srgbClr val="F59E0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6298332" y="3756050"/>
            <a:ext cx="2252737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Plan: Starter 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59E0B"/>
                </a:solidFill>
                <a:highlight>
                  <a:srgbClr val="F59E0B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Pro 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59E0B"/>
                </a:solidFill>
                <a:highlight>
                  <a:srgbClr val="F59E0B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Biz 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59E0B"/>
                </a:solidFill>
                <a:highlight>
                  <a:srgbClr val="F59E0B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00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3" name="Text 1"/>
          <p:cNvSpPr/>
          <p:nvPr/>
        </p:nvSpPr>
        <p:spPr>
          <a:xfrm>
            <a:off x="742950" y="400050"/>
            <a:ext cx="7943850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Modules Admin &amp; Infrastructure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742950" y="742950"/>
            <a:ext cx="7943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de l'administration et de l'infrastructure de sécurité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60772" y="1039416"/>
            <a:ext cx="4007644" cy="3946922"/>
          </a:xfrm>
          <a:prstGeom prst="roundRect">
            <a:avLst>
              <a:gd name="adj" fmla="val 3379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1506" y="1603772"/>
            <a:ext cx="3686175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506" y="1200150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7582" y="123622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EF444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547" dirty="0"/>
          </a:p>
        </p:txBody>
      </p:sp>
      <p:sp>
        <p:nvSpPr>
          <p:cNvPr id="9" name="Text 7"/>
          <p:cNvSpPr/>
          <p:nvPr/>
        </p:nvSpPr>
        <p:spPr>
          <a:xfrm>
            <a:off x="992981" y="1243013"/>
            <a:ext cx="126020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Administration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2072580" y="1252157"/>
            <a:ext cx="1007827" cy="196025"/>
          </a:xfrm>
          <a:prstGeom prst="roundRect">
            <a:avLst>
              <a:gd name="adj" fmla="val 19436"/>
            </a:avLst>
          </a:prstGeom>
          <a:solidFill>
            <a:srgbClr val="EF4444">
              <a:alpha val="15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279749" y="1305520"/>
            <a:ext cx="2027932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EF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super_admin ONLY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151162" y="130016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EF444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984" dirty="0"/>
          </a:p>
        </p:txBody>
      </p:sp>
      <p:sp>
        <p:nvSpPr>
          <p:cNvPr id="13" name="Text 11"/>
          <p:cNvSpPr/>
          <p:nvPr/>
        </p:nvSpPr>
        <p:spPr>
          <a:xfrm>
            <a:off x="778669" y="1735931"/>
            <a:ext cx="987149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Routes Protégées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1506" y="173414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621506" y="1918097"/>
            <a:ext cx="3686175" cy="221456"/>
          </a:xfrm>
          <a:prstGeom prst="roundRect">
            <a:avLst>
              <a:gd name="adj" fmla="val 25806"/>
            </a:avLst>
          </a:prstGeom>
          <a:solidFill>
            <a:srgbClr val="0F172A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2944" y="1969889"/>
            <a:ext cx="41148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21556" y="1969889"/>
            <a:ext cx="31645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/api/admin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93108" y="1952816"/>
            <a:ext cx="443136" cy="152019"/>
          </a:xfrm>
          <a:prstGeom prst="roundRect">
            <a:avLst>
              <a:gd name="adj" fmla="val 18797"/>
            </a:avLst>
          </a:prstGeom>
          <a:solidFill>
            <a:srgbClr val="EF4444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81590" y="1960959"/>
            <a:ext cx="66617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EF44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403 others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1506" y="2168128"/>
            <a:ext cx="3686175" cy="221456"/>
          </a:xfrm>
          <a:prstGeom prst="roundRect">
            <a:avLst>
              <a:gd name="adj" fmla="val 25806"/>
            </a:avLst>
          </a:prstGeom>
          <a:solidFill>
            <a:srgbClr val="0F172A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2944" y="2219920"/>
            <a:ext cx="41148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21556" y="2219920"/>
            <a:ext cx="31645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/api/admin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793108" y="2202847"/>
            <a:ext cx="443136" cy="152019"/>
          </a:xfrm>
          <a:prstGeom prst="roundRect">
            <a:avLst>
              <a:gd name="adj" fmla="val 18797"/>
            </a:avLst>
          </a:prstGeom>
          <a:solidFill>
            <a:srgbClr val="EF4444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681590" y="2210991"/>
            <a:ext cx="66617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EF44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403 others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65482" y="2518172"/>
            <a:ext cx="84120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Actions Admin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1506" y="251638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621506" y="270748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792956" y="2714625"/>
            <a:ext cx="984721" cy="107156"/>
          </a:xfrm>
          <a:prstGeom prst="roundRect">
            <a:avLst>
              <a:gd name="adj" fmla="val 35556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92956" y="2700338"/>
            <a:ext cx="351472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0A5FA"/>
                </a:solidFill>
                <a:highlight>
                  <a:srgbClr val="3B82F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update-company-plan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Changer le plan d'une entreprise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1506" y="288250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792956" y="2889647"/>
            <a:ext cx="842739" cy="107156"/>
          </a:xfrm>
          <a:prstGeom prst="roundRect">
            <a:avLst>
              <a:gd name="adj" fmla="val 35556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92956" y="2875359"/>
            <a:ext cx="351472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0A5FA"/>
                </a:solidFill>
                <a:highlight>
                  <a:srgbClr val="3B82F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overview-metrics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Dashboard stats globales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1506" y="305752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792956" y="3064669"/>
            <a:ext cx="748085" cy="107156"/>
          </a:xfrm>
          <a:prstGeom prst="roundRect">
            <a:avLst>
              <a:gd name="adj" fmla="val 35556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92956" y="3050381"/>
            <a:ext cx="351472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0A5FA"/>
                </a:solidFill>
                <a:highlight>
                  <a:srgbClr val="3B82F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confirm/reject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Validation paiements admin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76012" y="3353991"/>
            <a:ext cx="529499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Sécurité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1506" y="335220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621506" y="354330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1055043" y="3550444"/>
            <a:ext cx="606214" cy="107156"/>
          </a:xfrm>
          <a:prstGeom prst="roundRect">
            <a:avLst>
              <a:gd name="adj" fmla="val 35556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92956" y="3536156"/>
            <a:ext cx="351472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Guard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0A5FA"/>
                </a:solidFill>
                <a:highlight>
                  <a:srgbClr val="3B82F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super_admin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appliqué sur toutes les routes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1506" y="371832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792956" y="3711178"/>
            <a:ext cx="35147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Retour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F44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403 Forbidden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pour tous les autres rôles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675584" y="1039416"/>
            <a:ext cx="4007644" cy="3946922"/>
          </a:xfrm>
          <a:prstGeom prst="roundRect">
            <a:avLst>
              <a:gd name="adj" fmla="val 3379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4836319" y="1603772"/>
            <a:ext cx="3686175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36319" y="1200150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872395" y="123622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47" name="Text 45"/>
          <p:cNvSpPr/>
          <p:nvPr/>
        </p:nvSpPr>
        <p:spPr>
          <a:xfrm>
            <a:off x="5207794" y="1243013"/>
            <a:ext cx="331470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Infrastructure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4993481" y="1735931"/>
            <a:ext cx="1040588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Middleware &amp; Auth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36319" y="173414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4836319" y="192524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51" name="Text 49"/>
          <p:cNvSpPr/>
          <p:nvPr/>
        </p:nvSpPr>
        <p:spPr>
          <a:xfrm>
            <a:off x="5697029" y="1932384"/>
            <a:ext cx="275034" cy="107156"/>
          </a:xfrm>
          <a:prstGeom prst="roundRect">
            <a:avLst>
              <a:gd name="adj" fmla="val 35556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007769" y="1918097"/>
            <a:ext cx="3514725" cy="169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JWT HS256 avec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0A5FA"/>
                </a:solidFill>
                <a:highlight>
                  <a:srgbClr val="3B82F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jose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836319" y="210026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54" name="Text 52"/>
          <p:cNvSpPr/>
          <p:nvPr/>
        </p:nvSpPr>
        <p:spPr>
          <a:xfrm>
            <a:off x="5431817" y="2107406"/>
            <a:ext cx="369689" cy="107156"/>
          </a:xfrm>
          <a:prstGeom prst="roundRect">
            <a:avLst>
              <a:gd name="adj" fmla="val 35556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007769" y="2093119"/>
            <a:ext cx="3514725" cy="169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Password: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0A5FA"/>
                </a:solidFill>
                <a:highlight>
                  <a:srgbClr val="3B82F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cost 12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836319" y="227528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57" name="Text 55"/>
          <p:cNvSpPr/>
          <p:nvPr/>
        </p:nvSpPr>
        <p:spPr>
          <a:xfrm>
            <a:off x="5007769" y="2282428"/>
            <a:ext cx="558887" cy="107156"/>
          </a:xfrm>
          <a:prstGeom prst="roundRect">
            <a:avLst>
              <a:gd name="adj" fmla="val 35556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007769" y="2268141"/>
            <a:ext cx="351472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0A5FA"/>
                </a:solidFill>
                <a:highlight>
                  <a:srgbClr val="3B82F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obligatoire en production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993481" y="2571750"/>
            <a:ext cx="980452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Routes Publiques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836319" y="256996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125" dirty="0"/>
          </a:p>
        </p:txBody>
      </p:sp>
      <p:sp>
        <p:nvSpPr>
          <p:cNvPr id="61" name="Text 59"/>
          <p:cNvSpPr/>
          <p:nvPr/>
        </p:nvSpPr>
        <p:spPr>
          <a:xfrm>
            <a:off x="4836319" y="2745986"/>
            <a:ext cx="511559" cy="148019"/>
          </a:xfrm>
          <a:prstGeom prst="roundRect">
            <a:avLst>
              <a:gd name="adj" fmla="val 25740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4802173" y="2753916"/>
            <a:ext cx="57985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376453" y="2745986"/>
            <a:ext cx="511559" cy="148019"/>
          </a:xfrm>
          <a:prstGeom prst="roundRect">
            <a:avLst>
              <a:gd name="adj" fmla="val 25740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5342307" y="2753916"/>
            <a:ext cx="57985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/api/seed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916588" y="2745986"/>
            <a:ext cx="511559" cy="148019"/>
          </a:xfrm>
          <a:prstGeom prst="roundRect">
            <a:avLst>
              <a:gd name="adj" fmla="val 25740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882442" y="2753916"/>
            <a:ext cx="57985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/api/cron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456722" y="2745986"/>
            <a:ext cx="1031937" cy="148019"/>
          </a:xfrm>
          <a:prstGeom prst="roundRect">
            <a:avLst>
              <a:gd name="adj" fmla="val 25740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6456722" y="2753916"/>
            <a:ext cx="1031937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/api/chariow/webhook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977643" y="3014663"/>
            <a:ext cx="670289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Protections</a:t>
            </a:r>
            <a:endParaRPr lang="en-US" sz="731" dirty="0"/>
          </a:p>
        </p:txBody>
      </p:sp>
      <p:sp>
        <p:nvSpPr>
          <p:cNvPr id="70" name="Text 68"/>
          <p:cNvSpPr/>
          <p:nvPr/>
        </p:nvSpPr>
        <p:spPr>
          <a:xfrm>
            <a:off x="4836319" y="301287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25" dirty="0"/>
          </a:p>
        </p:txBody>
      </p:sp>
      <p:sp>
        <p:nvSpPr>
          <p:cNvPr id="71" name="Text 69"/>
          <p:cNvSpPr/>
          <p:nvPr/>
        </p:nvSpPr>
        <p:spPr>
          <a:xfrm>
            <a:off x="4836319" y="320397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72" name="Text 70"/>
          <p:cNvSpPr/>
          <p:nvPr/>
        </p:nvSpPr>
        <p:spPr>
          <a:xfrm>
            <a:off x="5007769" y="3196828"/>
            <a:ext cx="35147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Rate limiting: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In-memory (dev)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4836319" y="337542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74" name="Text 72"/>
          <p:cNvSpPr/>
          <p:nvPr/>
        </p:nvSpPr>
        <p:spPr>
          <a:xfrm>
            <a:off x="5226993" y="3382566"/>
            <a:ext cx="558887" cy="107156"/>
          </a:xfrm>
          <a:prstGeom prst="roundRect">
            <a:avLst>
              <a:gd name="adj" fmla="val 35556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5007769" y="3368278"/>
            <a:ext cx="351472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XSS: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0A5FA"/>
                </a:solidFill>
                <a:highlight>
                  <a:srgbClr val="3B82F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sanitize()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escape &lt; &gt; " '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836319" y="355044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77" name="Text 75"/>
          <p:cNvSpPr/>
          <p:nvPr/>
        </p:nvSpPr>
        <p:spPr>
          <a:xfrm>
            <a:off x="5460616" y="3557588"/>
            <a:ext cx="842739" cy="107156"/>
          </a:xfrm>
          <a:prstGeom prst="roundRect">
            <a:avLst>
              <a:gd name="adj" fmla="val 35556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5007769" y="3543300"/>
            <a:ext cx="351472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Pagination: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0A5FA"/>
                </a:solidFill>
                <a:highlight>
                  <a:srgbClr val="3B82F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safePagination()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cap 100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836319" y="372546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80" name="Text 78"/>
          <p:cNvSpPr/>
          <p:nvPr/>
        </p:nvSpPr>
        <p:spPr>
          <a:xfrm>
            <a:off x="5336493" y="3732609"/>
            <a:ext cx="700757" cy="107156"/>
          </a:xfrm>
          <a:prstGeom prst="roundRect">
            <a:avLst>
              <a:gd name="adj" fmla="val 35556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5007769" y="3718322"/>
            <a:ext cx="351472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Erreurs: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0A5FA"/>
                </a:solidFill>
                <a:highlight>
                  <a:srgbClr val="3B82F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handleError()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messages français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4839891" y="4011216"/>
            <a:ext cx="3679031" cy="810816"/>
          </a:xfrm>
          <a:prstGeom prst="roundRect">
            <a:avLst>
              <a:gd name="adj" fmla="val 11747"/>
            </a:avLst>
          </a:prstGeom>
          <a:solidFill>
            <a:srgbClr val="F59E0B">
              <a:alpha val="10000"/>
            </a:srgbClr>
          </a:solidFill>
          <a:ln w="7144">
            <a:solidFill>
              <a:srgbClr val="F59E0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5100638" y="4129088"/>
            <a:ext cx="1633945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RECOMMANDATION — Rate Limiting</a:t>
            </a:r>
            <a:endParaRPr lang="en-US" sz="675" dirty="0"/>
          </a:p>
        </p:txBody>
      </p:sp>
      <p:sp>
        <p:nvSpPr>
          <p:cNvPr id="84" name="Text 82"/>
          <p:cNvSpPr/>
          <p:nvPr/>
        </p:nvSpPr>
        <p:spPr>
          <a:xfrm>
            <a:off x="4943475" y="412194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125" dirty="0"/>
          </a:p>
        </p:txBody>
      </p:sp>
      <p:sp>
        <p:nvSpPr>
          <p:cNvPr id="85" name="Text 83"/>
          <p:cNvSpPr/>
          <p:nvPr/>
        </p:nvSpPr>
        <p:spPr>
          <a:xfrm>
            <a:off x="4943475" y="4300538"/>
            <a:ext cx="3581590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Le rate limiting actuel est </a:t>
            </a:r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in-memory seulement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4943475" y="4446984"/>
            <a:ext cx="3471863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En serverless (Vercel), chaque invocation est un processus séparé</a:t>
            </a:r>
            <a:endParaRPr lang="en-US" sz="619" dirty="0"/>
          </a:p>
        </p:txBody>
      </p:sp>
      <p:sp>
        <p:nvSpPr>
          <p:cNvPr id="87" name="Text 85"/>
          <p:cNvSpPr/>
          <p:nvPr/>
        </p:nvSpPr>
        <p:spPr>
          <a:xfrm>
            <a:off x="5677049" y="4600575"/>
            <a:ext cx="700757" cy="107156"/>
          </a:xfrm>
          <a:prstGeom prst="roundRect">
            <a:avLst>
              <a:gd name="adj" fmla="val 35556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6508961" y="4600575"/>
            <a:ext cx="511559" cy="107156"/>
          </a:xfrm>
          <a:prstGeom prst="roundRect">
            <a:avLst>
              <a:gd name="adj" fmla="val 35556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4943475" y="4593431"/>
            <a:ext cx="358159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</a:t>
            </a:r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TODO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Migrer vers 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highlight>
                  <a:srgbClr val="3B82F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Upstash Redis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ou 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0A5FA"/>
                </a:solidFill>
                <a:highlight>
                  <a:srgbClr val="3B82F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Vercel KV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291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3" name="Text 1"/>
          <p:cNvSpPr/>
          <p:nvPr/>
        </p:nvSpPr>
        <p:spPr>
          <a:xfrm>
            <a:off x="742950" y="400050"/>
            <a:ext cx="7943850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025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Limites de Plans — Enforcement Verifié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60772" y="1046559"/>
            <a:ext cx="8222456" cy="2568178"/>
          </a:xfrm>
          <a:prstGeom prst="roundRect">
            <a:avLst>
              <a:gd name="adj" fmla="val 4451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7219" y="1164431"/>
          <a:ext cx="7929563" cy="914400"/>
        </p:xfrm>
        <a:graphic>
          <a:graphicData uri="http://schemas.openxmlformats.org/drawingml/2006/table">
            <a:tbl>
              <a:tblPr/>
              <a:tblGrid>
                <a:gridCol w="2334778"/>
                <a:gridCol w="1364456"/>
                <a:gridCol w="1034504"/>
                <a:gridCol w="1464022"/>
                <a:gridCol w="173180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Ressource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Starter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B82F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Business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Enterprise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maxContacts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2 000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5 000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Illimité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maxAgents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Illimité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maxProducts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Illimité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maxAutomations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Illimité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maxTelegramAgents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Illimité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maxBookings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5 000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Illimité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maxMessages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1 000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3 000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10 000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Illimité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maxDrivers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Illimité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maxCampaigns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Illimité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85725" marT="85725" marB="42863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0772" y="3850481"/>
            <a:ext cx="3993356" cy="188595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7219" y="3968353"/>
            <a:ext cx="38101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28" kern="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CHECKPLANLIMIT() — 8 ROUTES PROTÉGÉES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07219" y="421659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778669" y="4204097"/>
            <a:ext cx="15096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/api/telegram/agents POST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233650" y="4204097"/>
            <a:ext cx="20740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maxTelegramAgents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07219" y="439876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778669" y="4386263"/>
            <a:ext cx="11796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/api/contacts POST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842306" y="4386263"/>
            <a:ext cx="24653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maxContacts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07219" y="458093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778669" y="4568428"/>
            <a:ext cx="11796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/api/products POST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842306" y="4568428"/>
            <a:ext cx="24653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maxProducts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07219" y="476309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778669" y="4750594"/>
            <a:ext cx="15096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/api/company/members POST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233650" y="4750594"/>
            <a:ext cx="20740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maxAgents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07219" y="494526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1" name="Text 18"/>
          <p:cNvSpPr/>
          <p:nvPr/>
        </p:nvSpPr>
        <p:spPr>
          <a:xfrm>
            <a:off x="778669" y="4932759"/>
            <a:ext cx="137622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/api/automations POST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010073" y="4932759"/>
            <a:ext cx="22976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maxAutomations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07219" y="5127427"/>
            <a:ext cx="1143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778669" y="5114925"/>
            <a:ext cx="124514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/api/campaigns POST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898228" y="5114925"/>
            <a:ext cx="240945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maxCampaigns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07219" y="5309592"/>
            <a:ext cx="1143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7" name="Text 24"/>
          <p:cNvSpPr/>
          <p:nvPr/>
        </p:nvSpPr>
        <p:spPr>
          <a:xfrm>
            <a:off x="778669" y="5297091"/>
            <a:ext cx="917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/api/sync POST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618617" y="5297091"/>
            <a:ext cx="26890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maxProducts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07219" y="5491758"/>
            <a:ext cx="1143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0" name="Text 27"/>
          <p:cNvSpPr/>
          <p:nvPr/>
        </p:nvSpPr>
        <p:spPr>
          <a:xfrm>
            <a:off x="778669" y="5479256"/>
            <a:ext cx="16304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/api/telegram/bookings POST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345494" y="5479256"/>
            <a:ext cx="196218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maxBookings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689872" y="3850481"/>
            <a:ext cx="3993356" cy="1971675"/>
          </a:xfrm>
          <a:prstGeom prst="roundRect">
            <a:avLst>
              <a:gd name="adj" fmla="val 5797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135923" y="3996928"/>
            <a:ext cx="1761827" cy="555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</a:t>
            </a:r>
            <a:pPr algn="l" indent="0" marL="0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4050" dirty="0"/>
          </a:p>
        </p:txBody>
      </p:sp>
      <p:sp>
        <p:nvSpPr>
          <p:cNvPr id="34" name="Text 31"/>
          <p:cNvSpPr/>
          <p:nvPr/>
        </p:nvSpPr>
        <p:spPr>
          <a:xfrm>
            <a:off x="5974966" y="4682728"/>
            <a:ext cx="149432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8/8 Ressources Enforcées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864894" y="5111353"/>
            <a:ext cx="3643313" cy="85725"/>
          </a:xfrm>
          <a:prstGeom prst="roundRect">
            <a:avLst>
              <a:gd name="adj" fmla="val 44444"/>
            </a:avLst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864894" y="5111353"/>
            <a:ext cx="3643313" cy="85725"/>
          </a:xfrm>
          <a:prstGeom prst="roundRect">
            <a:avLst>
              <a:gd name="adj" fmla="val 44444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5974184" y="5397103"/>
            <a:ext cx="14246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Toutes les limites sont vérifiées via</a:t>
            </a:r>
            <a:endParaRPr lang="en-US" sz="800" dirty="0"/>
          </a:p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checkPlanLimit() centralisé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291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👍</a:t>
            </a:r>
            <a:endParaRPr lang="en-US" sz="1969" dirty="0"/>
          </a:p>
        </p:txBody>
      </p:sp>
      <p:sp>
        <p:nvSpPr>
          <p:cNvPr id="3" name="Text 1"/>
          <p:cNvSpPr/>
          <p:nvPr/>
        </p:nvSpPr>
        <p:spPr>
          <a:xfrm>
            <a:off x="742950" y="400050"/>
            <a:ext cx="5123989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025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Recommandations pour la Production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6009345" y="488918"/>
            <a:ext cx="805123" cy="208026"/>
          </a:xfrm>
          <a:prstGeom prst="roundRect">
            <a:avLst>
              <a:gd name="adj" fmla="val 4574176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09345" y="500063"/>
            <a:ext cx="80512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F44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Priorité Haute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71618" y="488918"/>
            <a:ext cx="938510" cy="208026"/>
          </a:xfrm>
          <a:prstGeom prst="roundRect">
            <a:avLst>
              <a:gd name="adj" fmla="val 4574176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71618" y="500063"/>
            <a:ext cx="93851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Priorité Moyenne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7278" y="488918"/>
            <a:ext cx="819522" cy="208026"/>
          </a:xfrm>
          <a:prstGeom prst="roundRect">
            <a:avLst>
              <a:gd name="adj" fmla="val 4574176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67278" y="500063"/>
            <a:ext cx="81952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Priorité Basse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42988"/>
            <a:ext cx="2647876" cy="3086100"/>
          </a:xfrm>
          <a:prstGeom prst="roundRect">
            <a:avLst>
              <a:gd name="adj" fmla="val 431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1053703"/>
            <a:ext cx="2647876" cy="0"/>
          </a:xfrm>
          <a:prstGeom prst="line">
            <a:avLst/>
          </a:prstGeom>
          <a:noFill/>
          <a:ln w="21431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1504" y="1042988"/>
            <a:ext cx="0" cy="308610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125516"/>
            <a:ext cx="2647876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772" y="1042988"/>
            <a:ext cx="0" cy="308610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7219" y="121622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EF444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406" dirty="0"/>
          </a:p>
        </p:txBody>
      </p:sp>
      <p:sp>
        <p:nvSpPr>
          <p:cNvPr id="16" name="Text 14"/>
          <p:cNvSpPr/>
          <p:nvPr/>
        </p:nvSpPr>
        <p:spPr>
          <a:xfrm>
            <a:off x="807244" y="1207294"/>
            <a:ext cx="214781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28" kern="0" dirty="0">
                <a:solidFill>
                  <a:srgbClr val="EF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PRIORITÉ HAUTE</a:t>
            </a:r>
            <a:endParaRPr lang="en-US" sz="844" dirty="0"/>
          </a:p>
        </p:txBody>
      </p:sp>
      <p:sp>
        <p:nvSpPr>
          <p:cNvPr id="17" name="Text 15"/>
          <p:cNvSpPr/>
          <p:nvPr/>
        </p:nvSpPr>
        <p:spPr>
          <a:xfrm>
            <a:off x="607219" y="1568053"/>
            <a:ext cx="205740" cy="307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EF44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92956" y="1568053"/>
            <a:ext cx="2162101" cy="30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Migrer rate limiting vers Upstash Redis ou Vercel KV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7219" y="1933724"/>
            <a:ext cx="205740" cy="307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EF44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92956" y="1933724"/>
            <a:ext cx="2162101" cy="30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Ajouter logging structuré (pino/winston) pour audit trail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7219" y="229939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EF44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92956" y="2299395"/>
            <a:ext cx="22718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Implémenter CSRF protection sur les mutations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607219" y="253513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EF44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92956" y="2535138"/>
            <a:ext cx="216210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Ajouter Content-Security-Policy headers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3247951" y="1042988"/>
            <a:ext cx="2647987" cy="3086100"/>
          </a:xfrm>
          <a:prstGeom prst="roundRect">
            <a:avLst>
              <a:gd name="adj" fmla="val 431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247951" y="1053703"/>
            <a:ext cx="2647987" cy="0"/>
          </a:xfrm>
          <a:prstGeom prst="line">
            <a:avLst/>
          </a:prstGeom>
          <a:noFill/>
          <a:ln w="21431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2366" y="1042988"/>
            <a:ext cx="0" cy="308610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7951" y="4125516"/>
            <a:ext cx="2647987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51522" y="1042988"/>
            <a:ext cx="0" cy="308610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97969" y="121622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6" dirty="0"/>
          </a:p>
        </p:txBody>
      </p:sp>
      <p:sp>
        <p:nvSpPr>
          <p:cNvPr id="31" name="Text 29"/>
          <p:cNvSpPr/>
          <p:nvPr/>
        </p:nvSpPr>
        <p:spPr>
          <a:xfrm>
            <a:off x="3597994" y="1207294"/>
            <a:ext cx="214792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28" kern="0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PRIORITÉ MOYENNE</a:t>
            </a:r>
            <a:endParaRPr lang="en-US" sz="844" dirty="0"/>
          </a:p>
        </p:txBody>
      </p:sp>
      <p:sp>
        <p:nvSpPr>
          <p:cNvPr id="32" name="Text 30"/>
          <p:cNvSpPr/>
          <p:nvPr/>
        </p:nvSpPr>
        <p:spPr>
          <a:xfrm>
            <a:off x="3397969" y="1568053"/>
            <a:ext cx="205740" cy="307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583707" y="1568053"/>
            <a:ext cx="2162212" cy="30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Migrer Float vers Decimal pour les prix (post-lancement)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97969" y="1933724"/>
            <a:ext cx="205740" cy="307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583707" y="1933724"/>
            <a:ext cx="2162212" cy="30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Ajouter des tests unitaires pour les guards de sécurité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97969" y="2299395"/>
            <a:ext cx="205740" cy="307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583707" y="2299395"/>
            <a:ext cx="2162212" cy="30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Implémenter IP-based rate limiting pour /api/auth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397969" y="2665065"/>
            <a:ext cx="205740" cy="307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583707" y="2665065"/>
            <a:ext cx="2162212" cy="30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Ajouter webhook signature verification pour Chariow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38813" y="1042988"/>
            <a:ext cx="2647876" cy="3086100"/>
          </a:xfrm>
          <a:prstGeom prst="roundRect">
            <a:avLst>
              <a:gd name="adj" fmla="val 431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038813" y="1053703"/>
            <a:ext cx="2647876" cy="0"/>
          </a:xfrm>
          <a:prstGeom prst="line">
            <a:avLst/>
          </a:prstGeom>
          <a:noFill/>
          <a:ln w="21431">
            <a:solidFill>
              <a:srgbClr val="3B82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83117" y="1042988"/>
            <a:ext cx="0" cy="308610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38813" y="4125516"/>
            <a:ext cx="2647876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42385" y="1042988"/>
            <a:ext cx="0" cy="308610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88832" y="121622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406" dirty="0"/>
          </a:p>
        </p:txBody>
      </p:sp>
      <p:sp>
        <p:nvSpPr>
          <p:cNvPr id="46" name="Text 44"/>
          <p:cNvSpPr/>
          <p:nvPr/>
        </p:nvSpPr>
        <p:spPr>
          <a:xfrm>
            <a:off x="6388857" y="1207294"/>
            <a:ext cx="214781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28" kern="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PRIORITÉ BASSE</a:t>
            </a:r>
            <a:endParaRPr lang="en-US" sz="844" dirty="0"/>
          </a:p>
        </p:txBody>
      </p:sp>
      <p:sp>
        <p:nvSpPr>
          <p:cNvPr id="47" name="Text 45"/>
          <p:cNvSpPr/>
          <p:nvPr/>
        </p:nvSpPr>
        <p:spPr>
          <a:xfrm>
            <a:off x="6188832" y="1568053"/>
            <a:ext cx="205740" cy="307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374569" y="1568053"/>
            <a:ext cx="2162101" cy="30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Ajouter pagination cursor-based pour les grandes collections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88832" y="1933724"/>
            <a:ext cx="2891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426696" y="1933724"/>
            <a:ext cx="21067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Implémenter soft-delete universel (isActive flag)</a:t>
            </a:r>
            <a:endParaRPr lang="en-US" sz="788" dirty="0"/>
          </a:p>
        </p:txBody>
      </p:sp>
      <p:sp>
        <p:nvSpPr>
          <p:cNvPr id="51" name="Text 49"/>
          <p:cNvSpPr/>
          <p:nvPr/>
        </p:nvSpPr>
        <p:spPr>
          <a:xfrm>
            <a:off x="6188832" y="2169468"/>
            <a:ext cx="249495" cy="307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401916" y="2169468"/>
            <a:ext cx="2134753" cy="30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Ajouter audit log automatique pour les actions sensibles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188832" y="2535138"/>
            <a:ext cx="2891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12.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426696" y="2535138"/>
            <a:ext cx="2155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Migrer vers edge runtime Vercel pour latence</a:t>
            </a:r>
            <a:endParaRPr lang="en-US" sz="788" dirty="0"/>
          </a:p>
        </p:txBody>
      </p:sp>
      <p:sp>
        <p:nvSpPr>
          <p:cNvPr id="55" name="Text 53"/>
          <p:cNvSpPr/>
          <p:nvPr/>
        </p:nvSpPr>
        <p:spPr>
          <a:xfrm>
            <a:off x="460772" y="4361259"/>
            <a:ext cx="8222456" cy="378619"/>
          </a:xfrm>
          <a:prstGeom prst="roundRect">
            <a:avLst>
              <a:gd name="adj" fmla="val 25157"/>
            </a:avLst>
          </a:prstGeom>
          <a:solidFill>
            <a:srgbClr val="10B981">
              <a:alpha val="8000"/>
            </a:srgbClr>
          </a:solidFill>
          <a:ln w="7144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35794" y="447198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57" name="Text 55"/>
          <p:cNvSpPr/>
          <p:nvPr/>
        </p:nvSpPr>
        <p:spPr>
          <a:xfrm>
            <a:off x="878681" y="4464844"/>
            <a:ext cx="28437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Statut: PRET POUR LANCEMENT PUBLICITAIRE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457267" y="4480917"/>
            <a:ext cx="305093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Les priorités hautes peuvent être traitées itérativement après le lancement</a:t>
            </a:r>
            <a:endParaRPr lang="en-US" sz="73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71500" y="-857250"/>
            <a:ext cx="2857500" cy="285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571500" y="-857250"/>
            <a:ext cx="2857500" cy="285750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313" y="3431679"/>
            <a:ext cx="2500313" cy="25003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72313" y="3431679"/>
            <a:ext cx="2500313" cy="2500313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314825" y="400050"/>
            <a:ext cx="514350" cy="51435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364831" y="450056"/>
            <a:ext cx="41433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13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2813" dirty="0"/>
          </a:p>
        </p:txBody>
      </p:sp>
      <p:sp>
        <p:nvSpPr>
          <p:cNvPr id="8" name="Text 4"/>
          <p:cNvSpPr/>
          <p:nvPr/>
        </p:nvSpPr>
        <p:spPr>
          <a:xfrm>
            <a:off x="274320" y="1200150"/>
            <a:ext cx="8595248" cy="44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18"/>
              </a:lnSpc>
              <a:buNone/>
            </a:pPr>
            <a:r>
              <a:rPr lang="en-US" sz="2925" b="1" spc="-56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PRET POUR LE LANCEMENT</a:t>
            </a:r>
            <a:endParaRPr lang="en-US" sz="2925" dirty="0"/>
          </a:p>
        </p:txBody>
      </p:sp>
      <p:sp>
        <p:nvSpPr>
          <p:cNvPr id="9" name="Text 5"/>
          <p:cNvSpPr/>
          <p:nvPr/>
        </p:nvSpPr>
        <p:spPr>
          <a:xfrm>
            <a:off x="3673180" y="1780133"/>
            <a:ext cx="1797529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 faille critique ouverte</a:t>
            </a:r>
            <a:endParaRPr lang="en-US" sz="1238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473077"/>
            <a:ext cx="2133526" cy="9800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6572" y="2476649"/>
            <a:ext cx="2126382" cy="972889"/>
          </a:xfrm>
          <a:prstGeom prst="roundRect">
            <a:avLst>
              <a:gd name="adj" fmla="val 11749"/>
            </a:avLst>
          </a:prstGeom>
          <a:noFill/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1776171" y="2651671"/>
            <a:ext cx="867073" cy="35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99"/>
              </a:lnSpc>
              <a:buNone/>
            </a:pPr>
            <a:r>
              <a:rPr lang="en-US" sz="2363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25+</a:t>
            </a:r>
            <a:endParaRPr lang="en-US" sz="2363" dirty="0"/>
          </a:p>
        </p:txBody>
      </p:sp>
      <p:sp>
        <p:nvSpPr>
          <p:cNvPr id="13" name="Text 8"/>
          <p:cNvSpPr/>
          <p:nvPr/>
        </p:nvSpPr>
        <p:spPr>
          <a:xfrm>
            <a:off x="1570245" y="3124498"/>
            <a:ext cx="127892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Modules audites et verifies</a:t>
            </a:r>
            <a:endParaRPr lang="en-US" sz="788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126" y="2473077"/>
            <a:ext cx="2133637" cy="98003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508697" y="2476649"/>
            <a:ext cx="2126493" cy="972889"/>
          </a:xfrm>
          <a:prstGeom prst="roundRect">
            <a:avLst>
              <a:gd name="adj" fmla="val 11749"/>
            </a:avLst>
          </a:prstGeom>
          <a:noFill/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4427373" y="2651671"/>
            <a:ext cx="289143" cy="35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99"/>
              </a:lnSpc>
              <a:buNone/>
            </a:pPr>
            <a:r>
              <a:rPr lang="en-US" sz="2363" b="1" dirty="0">
                <a:solidFill>
                  <a:srgbClr val="EF44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2363" dirty="0"/>
          </a:p>
        </p:txBody>
      </p:sp>
      <p:sp>
        <p:nvSpPr>
          <p:cNvPr id="17" name="Text 11"/>
          <p:cNvSpPr/>
          <p:nvPr/>
        </p:nvSpPr>
        <p:spPr>
          <a:xfrm>
            <a:off x="3734418" y="3124498"/>
            <a:ext cx="167505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Bugs critiques corriges et deployes</a:t>
            </a:r>
            <a:endParaRPr lang="en-US" sz="788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363" y="2473077"/>
            <a:ext cx="2133526" cy="98003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870935" y="2476649"/>
            <a:ext cx="2126382" cy="972889"/>
          </a:xfrm>
          <a:prstGeom prst="roundRect">
            <a:avLst>
              <a:gd name="adj" fmla="val 11749"/>
            </a:avLst>
          </a:prstGeom>
          <a:noFill/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3"/>
          <p:cNvSpPr/>
          <p:nvPr/>
        </p:nvSpPr>
        <p:spPr>
          <a:xfrm>
            <a:off x="6356018" y="2651671"/>
            <a:ext cx="1156216" cy="35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99"/>
              </a:lnSpc>
              <a:buNone/>
            </a:pPr>
            <a:r>
              <a:rPr lang="en-US" sz="2363" b="1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2363" dirty="0"/>
          </a:p>
        </p:txBody>
      </p:sp>
      <p:sp>
        <p:nvSpPr>
          <p:cNvPr id="21" name="Text 14"/>
          <p:cNvSpPr/>
          <p:nvPr/>
        </p:nvSpPr>
        <p:spPr>
          <a:xfrm>
            <a:off x="6362330" y="3124498"/>
            <a:ext cx="11434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 limits enforcement</a:t>
            </a:r>
            <a:endParaRPr lang="en-US" sz="788" dirty="0"/>
          </a:p>
        </p:txBody>
      </p:sp>
      <p:sp>
        <p:nvSpPr>
          <p:cNvPr id="22" name="Text 15"/>
          <p:cNvSpPr/>
          <p:nvPr/>
        </p:nvSpPr>
        <p:spPr>
          <a:xfrm>
            <a:off x="2699891" y="3856732"/>
            <a:ext cx="3744218" cy="300038"/>
          </a:xfrm>
          <a:prstGeom prst="roundRect">
            <a:avLst>
              <a:gd name="adj" fmla="val 3171423"/>
            </a:avLst>
          </a:prstGeom>
          <a:solidFill>
            <a:srgbClr val="10B981">
              <a:alpha val="10000"/>
            </a:srgbClr>
          </a:solidFill>
          <a:ln w="7144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2874913" y="394245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266" dirty="0"/>
          </a:p>
        </p:txBody>
      </p:sp>
      <p:sp>
        <p:nvSpPr>
          <p:cNvPr id="24" name="Text 17"/>
          <p:cNvSpPr/>
          <p:nvPr/>
        </p:nvSpPr>
        <p:spPr>
          <a:xfrm>
            <a:off x="2892549" y="3931741"/>
            <a:ext cx="168101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DEPLOYE EN PRODUCTION</a:t>
            </a:r>
            <a:endParaRPr lang="en-US" sz="800" dirty="0"/>
          </a:p>
        </p:txBody>
      </p:sp>
      <p:sp>
        <p:nvSpPr>
          <p:cNvPr id="25" name="Text 18"/>
          <p:cNvSpPr/>
          <p:nvPr/>
        </p:nvSpPr>
        <p:spPr>
          <a:xfrm>
            <a:off x="4390352" y="3942457"/>
            <a:ext cx="195099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— my-project-eight-xi-94.vercel.app</a:t>
            </a:r>
            <a:endParaRPr lang="en-US" sz="675" dirty="0"/>
          </a:p>
        </p:txBody>
      </p:sp>
      <p:sp>
        <p:nvSpPr>
          <p:cNvPr id="26" name="Text 19"/>
          <p:cNvSpPr/>
          <p:nvPr/>
        </p:nvSpPr>
        <p:spPr>
          <a:xfrm>
            <a:off x="2000250" y="4474666"/>
            <a:ext cx="51435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L'application ChatCommerce CRM Africa est securisee et prete pour le lancement des campagnes publicitaires. Toutes les vulnerabilités critiques ont ete corrigees et deployees en production.</a:t>
            </a:r>
            <a:endParaRPr lang="en-US" sz="84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2026-08-12T11:13:20Z</dcterms:created>
  <dcterms:modified xsi:type="dcterms:W3CDTF">2026-08-12T11:13:20Z</dcterms:modified>
</cp:coreProperties>
</file>