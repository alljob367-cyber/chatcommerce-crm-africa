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L'app est prete pour le lancement des publicites. Les priorites hautes peuvent etre traitees iterativement.
- La migration du rate limiting vers Upstash Redis est la recommandation #1 — in-memory ne fonctionne pas en serverless.
- Le logging structuré et la CSRF protection sont importantes mais ne bloquent pas le lancement.
- Les recommandations basse priorité sont des améliorations d'architecture à planifier post-lancement.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L'audit est complet. L'app est deployee et securisee pour le lancement des publicites.
- 25+ modules audites, 7 bugs critiques corriges, 100% enforcement des limites de plan.
- Aucune faille critique ouverte — l'application est en production sur Vercel.
- Les recommandations post-lancement (rate limiting Redis, logging, CSRF) peuvent etre traitees iterativement.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4340" y="390406"/>
            <a:ext cx="921834" cy="180023"/>
          </a:xfrm>
          <a:prstGeom prst="roundRect">
            <a:avLst>
              <a:gd name="adj" fmla="val 31746"/>
            </a:avLst>
          </a:prstGeom>
          <a:solidFill>
            <a:srgbClr val="22D3EE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400050"/>
            <a:ext cx="876114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12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RAPPORT D'AUDIT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81055" y="390406"/>
            <a:ext cx="628605" cy="180023"/>
          </a:xfrm>
          <a:prstGeom prst="roundRect">
            <a:avLst>
              <a:gd name="adj" fmla="val 31746"/>
            </a:avLst>
          </a:prstGeom>
          <a:solidFill>
            <a:srgbClr val="818CF8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081454" y="400050"/>
            <a:ext cx="627807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12" kern="0" dirty="0">
                <a:solidFill>
                  <a:srgbClr val="818C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Aout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671462" y="571500"/>
            <a:ext cx="2472538" cy="2468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0"/>
              </a:lnSpc>
              <a:buNone/>
            </a:pPr>
            <a:r>
              <a:rPr lang="en-US" sz="18000" b="1" dirty="0">
                <a:solidFill>
                  <a:srgbClr val="818CF8">
                    <a:alpha val="3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</a:t>
            </a:r>
            <a:endParaRPr lang="en-US" sz="18000" dirty="0"/>
          </a:p>
        </p:txBody>
      </p:sp>
      <p:sp>
        <p:nvSpPr>
          <p:cNvPr id="7" name="Text 5"/>
          <p:cNvSpPr/>
          <p:nvPr/>
        </p:nvSpPr>
        <p:spPr>
          <a:xfrm>
            <a:off x="460772" y="3713411"/>
            <a:ext cx="1985963" cy="712143"/>
          </a:xfrm>
          <a:prstGeom prst="roundRect">
            <a:avLst>
              <a:gd name="adj" fmla="val 13375"/>
            </a:avLst>
          </a:prstGeom>
          <a:solidFill>
            <a:srgbClr val="1A1D27"/>
          </a:solidFill>
          <a:ln w="7144">
            <a:solidFill>
              <a:srgbClr val="33415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7219" y="3831282"/>
            <a:ext cx="1693069" cy="3096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2430"/>
              </a:lnSpc>
              <a:buNone/>
            </a:pPr>
            <a:r>
              <a:rPr lang="en-US" sz="2025" b="1" dirty="0">
                <a:solidFill>
                  <a:srgbClr val="818C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13</a:t>
            </a:r>
            <a:endParaRPr lang="en-US" sz="2025" dirty="0"/>
          </a:p>
        </p:txBody>
      </p:sp>
      <p:sp>
        <p:nvSpPr>
          <p:cNvPr id="9" name="Text 7"/>
          <p:cNvSpPr/>
          <p:nvPr/>
        </p:nvSpPr>
        <p:spPr>
          <a:xfrm>
            <a:off x="607219" y="4168378"/>
            <a:ext cx="169306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modules/API testes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539603" y="3713411"/>
            <a:ext cx="1985963" cy="712143"/>
          </a:xfrm>
          <a:prstGeom prst="roundRect">
            <a:avLst>
              <a:gd name="adj" fmla="val 13375"/>
            </a:avLst>
          </a:prstGeom>
          <a:solidFill>
            <a:srgbClr val="1A1D27"/>
          </a:solidFill>
          <a:ln w="7144">
            <a:solidFill>
              <a:srgbClr val="33415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686050" y="3831282"/>
            <a:ext cx="1693069" cy="3096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2430"/>
              </a:lnSpc>
              <a:buNone/>
            </a:pPr>
            <a:r>
              <a:rPr lang="en-US" sz="2025" b="1" dirty="0">
                <a:solidFill>
                  <a:srgbClr val="F8717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2025" dirty="0"/>
          </a:p>
        </p:txBody>
      </p:sp>
      <p:sp>
        <p:nvSpPr>
          <p:cNvPr id="12" name="Text 10"/>
          <p:cNvSpPr/>
          <p:nvPr/>
        </p:nvSpPr>
        <p:spPr>
          <a:xfrm>
            <a:off x="2686050" y="4168378"/>
            <a:ext cx="169306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bugs critiques corriges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618434" y="3713411"/>
            <a:ext cx="1985963" cy="712143"/>
          </a:xfrm>
          <a:prstGeom prst="roundRect">
            <a:avLst>
              <a:gd name="adj" fmla="val 13375"/>
            </a:avLst>
          </a:prstGeom>
          <a:solidFill>
            <a:srgbClr val="1A1D27"/>
          </a:solidFill>
          <a:ln w="7144">
            <a:solidFill>
              <a:srgbClr val="33415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764881" y="3831282"/>
            <a:ext cx="1693069" cy="3096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2430"/>
              </a:lnSpc>
              <a:buNone/>
            </a:pPr>
            <a:r>
              <a:rPr lang="en-US" sz="2025" b="1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2025" dirty="0"/>
          </a:p>
        </p:txBody>
      </p:sp>
      <p:sp>
        <p:nvSpPr>
          <p:cNvPr id="15" name="Text 13"/>
          <p:cNvSpPr/>
          <p:nvPr/>
        </p:nvSpPr>
        <p:spPr>
          <a:xfrm>
            <a:off x="4764881" y="4168378"/>
            <a:ext cx="169306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bugs moyens corriges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697266" y="3713411"/>
            <a:ext cx="1985963" cy="712143"/>
          </a:xfrm>
          <a:prstGeom prst="roundRect">
            <a:avLst>
              <a:gd name="adj" fmla="val 13375"/>
            </a:avLst>
          </a:prstGeom>
          <a:solidFill>
            <a:srgbClr val="1A1D27"/>
          </a:solidFill>
          <a:ln w="7144">
            <a:solidFill>
              <a:srgbClr val="33415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843713" y="3831282"/>
            <a:ext cx="1693069" cy="3096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2430"/>
              </a:lnSpc>
              <a:buNone/>
            </a:pPr>
            <a:r>
              <a:rPr lang="en-US" sz="2025" b="1" dirty="0">
                <a:solidFill>
                  <a:srgbClr val="34D39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100%</a:t>
            </a:r>
            <a:endParaRPr lang="en-US" sz="2025" dirty="0"/>
          </a:p>
        </p:txBody>
      </p:sp>
      <p:sp>
        <p:nvSpPr>
          <p:cNvPr id="18" name="Text 16"/>
          <p:cNvSpPr/>
          <p:nvPr/>
        </p:nvSpPr>
        <p:spPr>
          <a:xfrm>
            <a:off x="6843713" y="4168378"/>
            <a:ext cx="169306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modules verifies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928758" y="4607719"/>
            <a:ext cx="1286483" cy="126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spc="15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chatcommerce.africa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575759" y="4882753"/>
            <a:ext cx="18422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57200" y="1605558"/>
            <a:ext cx="6630829" cy="3726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17"/>
              </a:lnSpc>
              <a:buNone/>
            </a:pPr>
            <a:r>
              <a:rPr lang="en-US" sz="2363" b="1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Audit Complet des Modules</a:t>
            </a:r>
            <a:endParaRPr lang="en-US" sz="2363" dirty="0"/>
          </a:p>
        </p:txBody>
      </p:sp>
      <p:sp>
        <p:nvSpPr>
          <p:cNvPr id="22" name="Text 20"/>
          <p:cNvSpPr/>
          <p:nvPr/>
        </p:nvSpPr>
        <p:spPr>
          <a:xfrm>
            <a:off x="457200" y="2064879"/>
            <a:ext cx="3714750" cy="462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ChatCommerce CRM Africa — Test Admin &amp; Rapport de Securite</a:t>
            </a:r>
            <a:endParaRPr lang="en-US" sz="1125" dirty="0"/>
          </a:p>
        </p:txBody>
      </p:sp>
      <p:sp>
        <p:nvSpPr>
          <p:cNvPr id="23" name="Text 21"/>
          <p:cNvSpPr/>
          <p:nvPr/>
        </p:nvSpPr>
        <p:spPr>
          <a:xfrm>
            <a:off x="7642920" y="1620962"/>
            <a:ext cx="1043880" cy="925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750"/>
              </a:lnSpc>
              <a:buNone/>
            </a:pPr>
            <a:r>
              <a:rPr lang="en-US" sz="6750" b="1" dirty="0">
                <a:solidFill>
                  <a:srgbClr val="818C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</a:t>
            </a:r>
            <a:endParaRPr lang="en-US" sz="6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0050"/>
            <a:ext cx="863600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Modules Testes &amp; Resultats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60772" y="946547"/>
            <a:ext cx="4765997" cy="3711178"/>
          </a:xfrm>
          <a:prstGeom prst="roundRect">
            <a:avLst>
              <a:gd name="adj" fmla="val 3080"/>
            </a:avLst>
          </a:prstGeom>
          <a:solidFill>
            <a:srgbClr val="222639"/>
          </a:solidFill>
          <a:ln w="7144">
            <a:solidFill>
              <a:srgbClr val="33415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607219" y="1328738"/>
            <a:ext cx="4473104" cy="0"/>
          </a:xfrm>
          <a:prstGeom prst="line">
            <a:avLst/>
          </a:prstGeom>
          <a:noFill/>
          <a:ln w="7144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7219" y="1135856"/>
            <a:ext cx="25146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50106" y="1114425"/>
            <a:ext cx="3546654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Authentification</a:t>
            </a:r>
            <a:endParaRPr lang="en-US" sz="844" dirty="0"/>
          </a:p>
        </p:txBody>
      </p:sp>
      <p:sp>
        <p:nvSpPr>
          <p:cNvPr id="7" name="Text 5"/>
          <p:cNvSpPr/>
          <p:nvPr/>
        </p:nvSpPr>
        <p:spPr>
          <a:xfrm>
            <a:off x="4285022" y="1135856"/>
            <a:ext cx="65004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login, 2FA, JWT</a:t>
            </a:r>
            <a:endParaRPr lang="en-US" sz="619" dirty="0"/>
          </a:p>
        </p:txBody>
      </p:sp>
      <p:sp>
        <p:nvSpPr>
          <p:cNvPr id="8" name="Text 6"/>
          <p:cNvSpPr/>
          <p:nvPr/>
        </p:nvSpPr>
        <p:spPr>
          <a:xfrm>
            <a:off x="4839667" y="1104781"/>
            <a:ext cx="240655" cy="180023"/>
          </a:xfrm>
          <a:prstGeom prst="roundRect">
            <a:avLst>
              <a:gd name="adj" fmla="val 31746"/>
            </a:avLst>
          </a:prstGeom>
          <a:solidFill>
            <a:srgbClr val="34D399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839667" y="1114425"/>
            <a:ext cx="240655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12" kern="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07219" y="1596628"/>
            <a:ext cx="4473104" cy="0"/>
          </a:xfrm>
          <a:prstGeom prst="line">
            <a:avLst/>
          </a:prstGeom>
          <a:noFill/>
          <a:ln w="7144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7219" y="1403747"/>
            <a:ext cx="25146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50106" y="1382316"/>
            <a:ext cx="3432031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Telegram Agents</a:t>
            </a:r>
            <a:endParaRPr lang="en-US" sz="844" dirty="0"/>
          </a:p>
        </p:txBody>
      </p:sp>
      <p:sp>
        <p:nvSpPr>
          <p:cNvPr id="13" name="Text 11"/>
          <p:cNvSpPr/>
          <p:nvPr/>
        </p:nvSpPr>
        <p:spPr>
          <a:xfrm>
            <a:off x="4175857" y="1403747"/>
            <a:ext cx="77798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CRUD, role guards</a:t>
            </a:r>
            <a:endParaRPr lang="en-US" sz="619" dirty="0"/>
          </a:p>
        </p:txBody>
      </p:sp>
      <p:sp>
        <p:nvSpPr>
          <p:cNvPr id="14" name="Text 12"/>
          <p:cNvSpPr/>
          <p:nvPr/>
        </p:nvSpPr>
        <p:spPr>
          <a:xfrm>
            <a:off x="4839667" y="1372672"/>
            <a:ext cx="240655" cy="180023"/>
          </a:xfrm>
          <a:prstGeom prst="roundRect">
            <a:avLst>
              <a:gd name="adj" fmla="val 31746"/>
            </a:avLst>
          </a:prstGeom>
          <a:solidFill>
            <a:srgbClr val="34D399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839667" y="1382316"/>
            <a:ext cx="240655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12" kern="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OK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07219" y="1864519"/>
            <a:ext cx="4473104" cy="0"/>
          </a:xfrm>
          <a:prstGeom prst="line">
            <a:avLst/>
          </a:prstGeom>
          <a:noFill/>
          <a:ln w="7144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7219" y="1671638"/>
            <a:ext cx="25146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50106" y="1650206"/>
            <a:ext cx="3872359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AI/LLM Configuration</a:t>
            </a:r>
            <a:endParaRPr lang="en-US" sz="844" dirty="0"/>
          </a:p>
        </p:txBody>
      </p:sp>
      <p:sp>
        <p:nvSpPr>
          <p:cNvPr id="19" name="Text 17"/>
          <p:cNvSpPr/>
          <p:nvPr/>
        </p:nvSpPr>
        <p:spPr>
          <a:xfrm>
            <a:off x="4595217" y="1640562"/>
            <a:ext cx="485105" cy="180023"/>
          </a:xfrm>
          <a:prstGeom prst="roundRect">
            <a:avLst>
              <a:gd name="adj" fmla="val 31746"/>
            </a:avLst>
          </a:prstGeom>
          <a:solidFill>
            <a:srgbClr val="34D399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559833" y="1650206"/>
            <a:ext cx="555874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12" kern="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CORRIGE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07219" y="2132409"/>
            <a:ext cx="4473104" cy="0"/>
          </a:xfrm>
          <a:prstGeom prst="line">
            <a:avLst/>
          </a:prstGeom>
          <a:noFill/>
          <a:ln w="7144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7219" y="1939528"/>
            <a:ext cx="25146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50106" y="1918097"/>
            <a:ext cx="3114647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Chariow Paiements</a:t>
            </a:r>
            <a:endParaRPr lang="en-US" sz="844" dirty="0"/>
          </a:p>
        </p:txBody>
      </p:sp>
      <p:sp>
        <p:nvSpPr>
          <p:cNvPr id="24" name="Text 22"/>
          <p:cNvSpPr/>
          <p:nvPr/>
        </p:nvSpPr>
        <p:spPr>
          <a:xfrm>
            <a:off x="3873587" y="1939528"/>
            <a:ext cx="788452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checkout, webhook</a:t>
            </a:r>
            <a:endParaRPr lang="en-US" sz="619" dirty="0"/>
          </a:p>
        </p:txBody>
      </p:sp>
      <p:sp>
        <p:nvSpPr>
          <p:cNvPr id="25" name="Text 23"/>
          <p:cNvSpPr/>
          <p:nvPr/>
        </p:nvSpPr>
        <p:spPr>
          <a:xfrm>
            <a:off x="4546327" y="1908453"/>
            <a:ext cx="533995" cy="180023"/>
          </a:xfrm>
          <a:prstGeom prst="roundRect">
            <a:avLst>
              <a:gd name="adj" fmla="val 31746"/>
            </a:avLst>
          </a:prstGeom>
          <a:solidFill>
            <a:srgbClr val="34D399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498223" y="1918097"/>
            <a:ext cx="630204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12" kern="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AMELIORE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07219" y="2400300"/>
            <a:ext cx="4473104" cy="0"/>
          </a:xfrm>
          <a:prstGeom prst="line">
            <a:avLst/>
          </a:prstGeom>
          <a:noFill/>
          <a:ln w="7144">
            <a:solidFill>
              <a:srgbClr val="3341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7219" y="2207419"/>
            <a:ext cx="25146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850106" y="2185988"/>
            <a:ext cx="4129032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Bookings/Reservations</a:t>
            </a:r>
            <a:endParaRPr lang="en-US" sz="844" dirty="0"/>
          </a:p>
        </p:txBody>
      </p:sp>
      <p:sp>
        <p:nvSpPr>
          <p:cNvPr id="30" name="Text 28"/>
          <p:cNvSpPr/>
          <p:nvPr/>
        </p:nvSpPr>
        <p:spPr>
          <a:xfrm>
            <a:off x="4839667" y="2176343"/>
            <a:ext cx="240655" cy="180023"/>
          </a:xfrm>
          <a:prstGeom prst="roundRect">
            <a:avLst>
              <a:gd name="adj" fmla="val 31746"/>
            </a:avLst>
          </a:prstGeom>
          <a:solidFill>
            <a:srgbClr val="34D399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839667" y="2185988"/>
            <a:ext cx="240655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12" kern="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OK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07219" y="2668191"/>
            <a:ext cx="4473104" cy="0"/>
          </a:xfrm>
          <a:prstGeom prst="line">
            <a:avLst/>
          </a:prstGeom>
          <a:noFill/>
          <a:ln w="7144">
            <a:solidFill>
              <a:srgbClr val="33415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7219" y="2475309"/>
            <a:ext cx="25146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850106" y="2453878"/>
            <a:ext cx="4129032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Sync Services-Produits</a:t>
            </a:r>
            <a:endParaRPr lang="en-US" sz="844" dirty="0"/>
          </a:p>
        </p:txBody>
      </p:sp>
      <p:sp>
        <p:nvSpPr>
          <p:cNvPr id="35" name="Text 33"/>
          <p:cNvSpPr/>
          <p:nvPr/>
        </p:nvSpPr>
        <p:spPr>
          <a:xfrm>
            <a:off x="4839667" y="2444234"/>
            <a:ext cx="240655" cy="180023"/>
          </a:xfrm>
          <a:prstGeom prst="roundRect">
            <a:avLst>
              <a:gd name="adj" fmla="val 31746"/>
            </a:avLst>
          </a:prstGeom>
          <a:solidFill>
            <a:srgbClr val="34D399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839667" y="2453878"/>
            <a:ext cx="240655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12" kern="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OK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607219" y="2936081"/>
            <a:ext cx="4473104" cy="0"/>
          </a:xfrm>
          <a:prstGeom prst="line">
            <a:avLst/>
          </a:prstGeom>
          <a:noFill/>
          <a:ln w="7144">
            <a:solidFill>
              <a:srgbClr val="33415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07219" y="2743200"/>
            <a:ext cx="25146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07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850106" y="2721769"/>
            <a:ext cx="4129032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Members/Gestion Equipe</a:t>
            </a:r>
            <a:endParaRPr lang="en-US" sz="844" dirty="0"/>
          </a:p>
        </p:txBody>
      </p:sp>
      <p:sp>
        <p:nvSpPr>
          <p:cNvPr id="40" name="Text 38"/>
          <p:cNvSpPr/>
          <p:nvPr/>
        </p:nvSpPr>
        <p:spPr>
          <a:xfrm>
            <a:off x="4839667" y="2712125"/>
            <a:ext cx="240655" cy="180023"/>
          </a:xfrm>
          <a:prstGeom prst="roundRect">
            <a:avLst>
              <a:gd name="adj" fmla="val 31746"/>
            </a:avLst>
          </a:prstGeom>
          <a:solidFill>
            <a:srgbClr val="34D399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4839667" y="2721769"/>
            <a:ext cx="240655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12" kern="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OK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07219" y="3203972"/>
            <a:ext cx="4473104" cy="0"/>
          </a:xfrm>
          <a:prstGeom prst="line">
            <a:avLst/>
          </a:prstGeom>
          <a:noFill/>
          <a:ln w="7144">
            <a:solidFill>
              <a:srgbClr val="33415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07219" y="3011091"/>
            <a:ext cx="25146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08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850106" y="2989659"/>
            <a:ext cx="4129032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Company Settings</a:t>
            </a:r>
            <a:endParaRPr lang="en-US" sz="844" dirty="0"/>
          </a:p>
        </p:txBody>
      </p:sp>
      <p:sp>
        <p:nvSpPr>
          <p:cNvPr id="45" name="Text 43"/>
          <p:cNvSpPr/>
          <p:nvPr/>
        </p:nvSpPr>
        <p:spPr>
          <a:xfrm>
            <a:off x="4839667" y="2980015"/>
            <a:ext cx="240655" cy="180023"/>
          </a:xfrm>
          <a:prstGeom prst="roundRect">
            <a:avLst>
              <a:gd name="adj" fmla="val 31746"/>
            </a:avLst>
          </a:prstGeom>
          <a:solidFill>
            <a:srgbClr val="34D399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4839667" y="2989659"/>
            <a:ext cx="240655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12" kern="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OK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607219" y="3471863"/>
            <a:ext cx="4473104" cy="0"/>
          </a:xfrm>
          <a:prstGeom prst="line">
            <a:avLst/>
          </a:prstGeom>
          <a:noFill/>
          <a:ln w="7144">
            <a:solidFill>
              <a:srgbClr val="33415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07219" y="3278981"/>
            <a:ext cx="25146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09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850106" y="3257550"/>
            <a:ext cx="4129032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Plan Limits Enforcement</a:t>
            </a:r>
            <a:endParaRPr lang="en-US" sz="844" dirty="0"/>
          </a:p>
        </p:txBody>
      </p:sp>
      <p:sp>
        <p:nvSpPr>
          <p:cNvPr id="50" name="Text 48"/>
          <p:cNvSpPr/>
          <p:nvPr/>
        </p:nvSpPr>
        <p:spPr>
          <a:xfrm>
            <a:off x="4839667" y="3247906"/>
            <a:ext cx="240655" cy="180023"/>
          </a:xfrm>
          <a:prstGeom prst="roundRect">
            <a:avLst>
              <a:gd name="adj" fmla="val 31746"/>
            </a:avLst>
          </a:prstGeom>
          <a:solidFill>
            <a:srgbClr val="34D399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4839667" y="3257550"/>
            <a:ext cx="240655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12" kern="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OK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607219" y="3739753"/>
            <a:ext cx="4473104" cy="0"/>
          </a:xfrm>
          <a:prstGeom prst="line">
            <a:avLst/>
          </a:prstGeom>
          <a:noFill/>
          <a:ln w="7144">
            <a:solidFill>
              <a:srgbClr val="33415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07219" y="3546872"/>
            <a:ext cx="25146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850106" y="3525441"/>
            <a:ext cx="4230216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Products CRUD</a:t>
            </a:r>
            <a:endParaRPr lang="en-US" sz="844" dirty="0"/>
          </a:p>
        </p:txBody>
      </p:sp>
      <p:sp>
        <p:nvSpPr>
          <p:cNvPr id="55" name="Text 53"/>
          <p:cNvSpPr/>
          <p:nvPr/>
        </p:nvSpPr>
        <p:spPr>
          <a:xfrm>
            <a:off x="4595217" y="3515797"/>
            <a:ext cx="485105" cy="180023"/>
          </a:xfrm>
          <a:prstGeom prst="roundRect">
            <a:avLst>
              <a:gd name="adj" fmla="val 31746"/>
            </a:avLst>
          </a:prstGeom>
          <a:solidFill>
            <a:srgbClr val="34D399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4559833" y="3525441"/>
            <a:ext cx="555874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12" kern="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CORRIGE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607219" y="4007644"/>
            <a:ext cx="4473104" cy="0"/>
          </a:xfrm>
          <a:prstGeom prst="line">
            <a:avLst/>
          </a:prstGeom>
          <a:noFill/>
          <a:ln w="7144">
            <a:solidFill>
              <a:srgbClr val="33415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07219" y="3814763"/>
            <a:ext cx="25146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11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850106" y="3793331"/>
            <a:ext cx="4230216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Automations</a:t>
            </a:r>
            <a:endParaRPr lang="en-US" sz="844" dirty="0"/>
          </a:p>
        </p:txBody>
      </p:sp>
      <p:sp>
        <p:nvSpPr>
          <p:cNvPr id="60" name="Text 58"/>
          <p:cNvSpPr/>
          <p:nvPr/>
        </p:nvSpPr>
        <p:spPr>
          <a:xfrm>
            <a:off x="4595217" y="3783687"/>
            <a:ext cx="485105" cy="180023"/>
          </a:xfrm>
          <a:prstGeom prst="roundRect">
            <a:avLst>
              <a:gd name="adj" fmla="val 31746"/>
            </a:avLst>
          </a:prstGeom>
          <a:solidFill>
            <a:srgbClr val="34D399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4559833" y="3793331"/>
            <a:ext cx="555874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12" kern="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CORRIGE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607219" y="4275534"/>
            <a:ext cx="4473104" cy="0"/>
          </a:xfrm>
          <a:prstGeom prst="line">
            <a:avLst/>
          </a:prstGeom>
          <a:noFill/>
          <a:ln w="7144">
            <a:solidFill>
              <a:srgbClr val="334155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07219" y="4082653"/>
            <a:ext cx="25146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12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850106" y="4061222"/>
            <a:ext cx="4230216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Campaigns</a:t>
            </a:r>
            <a:endParaRPr lang="en-US" sz="844" dirty="0"/>
          </a:p>
        </p:txBody>
      </p:sp>
      <p:sp>
        <p:nvSpPr>
          <p:cNvPr id="65" name="Text 63"/>
          <p:cNvSpPr/>
          <p:nvPr/>
        </p:nvSpPr>
        <p:spPr>
          <a:xfrm>
            <a:off x="4595217" y="4051578"/>
            <a:ext cx="485105" cy="180023"/>
          </a:xfrm>
          <a:prstGeom prst="roundRect">
            <a:avLst>
              <a:gd name="adj" fmla="val 31746"/>
            </a:avLst>
          </a:prstGeom>
          <a:solidFill>
            <a:srgbClr val="34D399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Text 64"/>
          <p:cNvSpPr/>
          <p:nvPr/>
        </p:nvSpPr>
        <p:spPr>
          <a:xfrm>
            <a:off x="4559833" y="4061222"/>
            <a:ext cx="555874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12" kern="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CORRIGE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607219" y="4350544"/>
            <a:ext cx="2514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13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850106" y="4329113"/>
            <a:ext cx="3872359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Dashboard Analytics</a:t>
            </a:r>
            <a:endParaRPr lang="en-US" sz="844" dirty="0"/>
          </a:p>
        </p:txBody>
      </p:sp>
      <p:sp>
        <p:nvSpPr>
          <p:cNvPr id="69" name="Text 67"/>
          <p:cNvSpPr/>
          <p:nvPr/>
        </p:nvSpPr>
        <p:spPr>
          <a:xfrm>
            <a:off x="4595217" y="4319468"/>
            <a:ext cx="485105" cy="180023"/>
          </a:xfrm>
          <a:prstGeom prst="roundRect">
            <a:avLst>
              <a:gd name="adj" fmla="val 31746"/>
            </a:avLst>
          </a:prstGeom>
          <a:solidFill>
            <a:srgbClr val="34D399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0" name="Text 68"/>
          <p:cNvSpPr/>
          <p:nvPr/>
        </p:nvSpPr>
        <p:spPr>
          <a:xfrm>
            <a:off x="4559833" y="4329113"/>
            <a:ext cx="555874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12" kern="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CORRIGE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5462513" y="1209415"/>
            <a:ext cx="3220603" cy="980815"/>
          </a:xfrm>
          <a:prstGeom prst="roundRect">
            <a:avLst>
              <a:gd name="adj" fmla="val 9711"/>
            </a:avLst>
          </a:prstGeom>
          <a:solidFill>
            <a:srgbClr val="1A1D27"/>
          </a:solidFill>
          <a:ln w="7144">
            <a:solidFill>
              <a:srgbClr val="33415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2" name="Text 70"/>
          <p:cNvSpPr/>
          <p:nvPr/>
        </p:nvSpPr>
        <p:spPr>
          <a:xfrm>
            <a:off x="5637535" y="1355861"/>
            <a:ext cx="2870560" cy="3925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2970"/>
              </a:lnSpc>
              <a:buNone/>
            </a:pPr>
            <a:r>
              <a:rPr lang="en-US" sz="2700" b="1" dirty="0">
                <a:solidFill>
                  <a:srgbClr val="34D39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10/13</a:t>
            </a:r>
            <a:endParaRPr lang="en-US" sz="2700" dirty="0"/>
          </a:p>
        </p:txBody>
      </p:sp>
      <p:sp>
        <p:nvSpPr>
          <p:cNvPr id="73" name="Text 71"/>
          <p:cNvSpPr/>
          <p:nvPr/>
        </p:nvSpPr>
        <p:spPr>
          <a:xfrm>
            <a:off x="5637535" y="1775892"/>
            <a:ext cx="28705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modules sans bug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5637535" y="2000920"/>
            <a:ext cx="2870560" cy="42863"/>
          </a:xfrm>
          <a:prstGeom prst="roundRect">
            <a:avLst>
              <a:gd name="adj" fmla="val 66666"/>
            </a:avLst>
          </a:prstGeom>
          <a:solidFill>
            <a:srgbClr val="22263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5" name="Text 73"/>
          <p:cNvSpPr/>
          <p:nvPr/>
        </p:nvSpPr>
        <p:spPr>
          <a:xfrm>
            <a:off x="5637535" y="2000920"/>
            <a:ext cx="2210321" cy="42863"/>
          </a:xfrm>
          <a:prstGeom prst="roundRect">
            <a:avLst>
              <a:gd name="adj" fmla="val 66666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6" name="Text 74"/>
          <p:cNvSpPr/>
          <p:nvPr/>
        </p:nvSpPr>
        <p:spPr>
          <a:xfrm>
            <a:off x="5462513" y="2311673"/>
            <a:ext cx="3220603" cy="980815"/>
          </a:xfrm>
          <a:prstGeom prst="roundRect">
            <a:avLst>
              <a:gd name="adj" fmla="val 9711"/>
            </a:avLst>
          </a:prstGeom>
          <a:solidFill>
            <a:srgbClr val="1A1D27"/>
          </a:solidFill>
          <a:ln w="7144">
            <a:solidFill>
              <a:srgbClr val="33415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7" name="Text 75"/>
          <p:cNvSpPr/>
          <p:nvPr/>
        </p:nvSpPr>
        <p:spPr>
          <a:xfrm>
            <a:off x="5637535" y="2458120"/>
            <a:ext cx="2870560" cy="3925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2970"/>
              </a:lnSpc>
              <a:buNone/>
            </a:pPr>
            <a:r>
              <a:rPr lang="en-US" sz="2700" b="1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3/13</a:t>
            </a:r>
            <a:endParaRPr lang="en-US" sz="2700" dirty="0"/>
          </a:p>
        </p:txBody>
      </p:sp>
      <p:sp>
        <p:nvSpPr>
          <p:cNvPr id="78" name="Text 76"/>
          <p:cNvSpPr/>
          <p:nvPr/>
        </p:nvSpPr>
        <p:spPr>
          <a:xfrm>
            <a:off x="5637535" y="2878150"/>
            <a:ext cx="28705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modules avec bug corrige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5637535" y="3103178"/>
            <a:ext cx="2870560" cy="42863"/>
          </a:xfrm>
          <a:prstGeom prst="roundRect">
            <a:avLst>
              <a:gd name="adj" fmla="val 66666"/>
            </a:avLst>
          </a:prstGeom>
          <a:solidFill>
            <a:srgbClr val="22263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0" name="Text 78"/>
          <p:cNvSpPr/>
          <p:nvPr/>
        </p:nvSpPr>
        <p:spPr>
          <a:xfrm>
            <a:off x="5637535" y="3103178"/>
            <a:ext cx="660127" cy="42863"/>
          </a:xfrm>
          <a:prstGeom prst="roundRect">
            <a:avLst>
              <a:gd name="adj" fmla="val 66666"/>
            </a:avLst>
          </a:prstGeom>
          <a:solidFill>
            <a:srgbClr val="FBBF2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1" name="Text 79"/>
          <p:cNvSpPr/>
          <p:nvPr/>
        </p:nvSpPr>
        <p:spPr>
          <a:xfrm>
            <a:off x="5462513" y="3413931"/>
            <a:ext cx="3220603" cy="980815"/>
          </a:xfrm>
          <a:prstGeom prst="roundRect">
            <a:avLst>
              <a:gd name="adj" fmla="val 9711"/>
            </a:avLst>
          </a:prstGeom>
          <a:solidFill>
            <a:srgbClr val="1A1D27"/>
          </a:solidFill>
          <a:ln w="7144">
            <a:solidFill>
              <a:srgbClr val="33415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2" name="Text 80"/>
          <p:cNvSpPr/>
          <p:nvPr/>
        </p:nvSpPr>
        <p:spPr>
          <a:xfrm>
            <a:off x="5637535" y="3560378"/>
            <a:ext cx="2870560" cy="3925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2970"/>
              </a:lnSpc>
              <a:buNone/>
            </a:pPr>
            <a:r>
              <a:rPr lang="en-US" sz="2700" b="1" dirty="0">
                <a:solidFill>
                  <a:srgbClr val="34D39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</a:t>
            </a:r>
            <a:endParaRPr lang="en-US" sz="2700" dirty="0"/>
          </a:p>
        </p:txBody>
      </p:sp>
      <p:sp>
        <p:nvSpPr>
          <p:cNvPr id="83" name="Text 81"/>
          <p:cNvSpPr/>
          <p:nvPr/>
        </p:nvSpPr>
        <p:spPr>
          <a:xfrm>
            <a:off x="5637535" y="3980408"/>
            <a:ext cx="28705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bugs critiques restants</a:t>
            </a:r>
            <a:endParaRPr lang="en-US" sz="800" dirty="0"/>
          </a:p>
        </p:txBody>
      </p:sp>
      <p:sp>
        <p:nvSpPr>
          <p:cNvPr id="84" name="Text 82"/>
          <p:cNvSpPr/>
          <p:nvPr/>
        </p:nvSpPr>
        <p:spPr>
          <a:xfrm>
            <a:off x="5637535" y="4205436"/>
            <a:ext cx="2870560" cy="42863"/>
          </a:xfrm>
          <a:prstGeom prst="roundRect">
            <a:avLst>
              <a:gd name="adj" fmla="val 66666"/>
            </a:avLst>
          </a:prstGeom>
          <a:solidFill>
            <a:srgbClr val="22263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5" name="Text 83"/>
          <p:cNvSpPr/>
          <p:nvPr/>
        </p:nvSpPr>
        <p:spPr>
          <a:xfrm>
            <a:off x="5637535" y="4205436"/>
            <a:ext cx="2870560" cy="42863"/>
          </a:xfrm>
          <a:prstGeom prst="roundRect">
            <a:avLst>
              <a:gd name="adj" fmla="val 66666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6" name="Text 84"/>
          <p:cNvSpPr/>
          <p:nvPr/>
        </p:nvSpPr>
        <p:spPr>
          <a:xfrm>
            <a:off x="8575759" y="4882753"/>
            <a:ext cx="18422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0050"/>
            <a:ext cx="8636000" cy="370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Bugs Critiques Corriges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60772" y="946547"/>
            <a:ext cx="8222456" cy="1727895"/>
          </a:xfrm>
          <a:prstGeom prst="roundRect">
            <a:avLst>
              <a:gd name="adj" fmla="val 6615"/>
            </a:avLst>
          </a:prstGeom>
          <a:solidFill>
            <a:srgbClr val="222639"/>
          </a:solidFill>
          <a:ln w="7144">
            <a:solidFill>
              <a:srgbClr val="33415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4344" y="950119"/>
          <a:ext cx="8215313" cy="914400"/>
        </p:xfrm>
        <a:graphic>
          <a:graphicData uri="http://schemas.openxmlformats.org/drawingml/2006/table">
            <a:tbl>
              <a:tblPr/>
              <a:tblGrid>
                <a:gridCol w="1821991"/>
                <a:gridCol w="4764881"/>
                <a:gridCol w="842181"/>
                <a:gridCol w="786259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94A3B8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Module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100013" marT="100013" marB="71438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94A3B8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Bug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100013" marT="100013" marB="71438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94A3B8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Severite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100013" marT="100013" marB="71438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94A3B8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Statut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100013" marT="100013" marB="71438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1F5F9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Telegram Agents / AI Config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100013" marT="100013" marB="71438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1F5F9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openEditAgent() lisait le champ openHours au lieu de aiConfig — les parametres IA n'etaient jamais charges lors de l'edition d'un agent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100013" marT="100013" marB="71438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1F5F9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CRITIQUE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100013" marT="100013" marB="71438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1F5F9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CORRIGE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100013" marT="100013" marB="71438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1F5F9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Products / Automations / Campaigns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100013" marT="100013" marB="71438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1F5F9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Routes POST/PATCH/DELETE sans verification admin — tout utilisateur authentifie pouvait creer/supprimer des ressources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100013" marT="100013" marB="71438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1F5F9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CRITIQUE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100013" marT="100013" marB="71438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1F5F9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CORRIGE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100013" marT="100013" marB="71438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1F5F9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Dashboard Analytics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100013" marT="100013" marB="71438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1F5F9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SQL PostgreSQL-only (NOW()-INTERVAL) crash en SQLite local — date("createdAt") incompatible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100013" marT="100013" marB="71438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1F5F9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MOYEN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100013" marT="100013" marB="71438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1F5F9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CORRIGE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100013" marT="100013" marB="71438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1F5F9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Chariow Checkout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100013" marT="100013" marB="71438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1F5F9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Pas de validation d'upgrade de plan — un utilisateur pouvait payer pour un plan inferieur ou identique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100013" marT="100013" marB="71438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1F5F9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MOYEN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100013" marT="100013" marB="71438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1F5F9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CORRIGE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100013" marT="100013" marB="71438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575759" y="4882753"/>
            <a:ext cx="18422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0050"/>
            <a:ext cx="3243430" cy="370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Module Authentification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3151956" y="481489"/>
            <a:ext cx="485105" cy="180023"/>
          </a:xfrm>
          <a:prstGeom prst="roundRect">
            <a:avLst>
              <a:gd name="adj" fmla="val 31746"/>
            </a:avLst>
          </a:prstGeom>
          <a:solidFill>
            <a:srgbClr val="34D399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116572" y="491133"/>
            <a:ext cx="555874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12" kern="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VERIFIE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85813"/>
            <a:ext cx="8636000" cy="231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Login, Register, 2FA, JWT, Password Management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457200" y="1228725"/>
            <a:ext cx="461995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44" kern="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POINTS DE VERIFICATION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1489472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34D39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406" dirty="0"/>
          </a:p>
        </p:txBody>
      </p:sp>
      <p:sp>
        <p:nvSpPr>
          <p:cNvPr id="8" name="Text 6"/>
          <p:cNvSpPr/>
          <p:nvPr/>
        </p:nvSpPr>
        <p:spPr>
          <a:xfrm>
            <a:off x="685800" y="1482328"/>
            <a:ext cx="3771900" cy="173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Login rate-limite a </a:t>
            </a:r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22D3E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</a:t>
            </a:r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tentatives/minute</a:t>
            </a:r>
            <a:endParaRPr lang="en-US" sz="844" dirty="0"/>
          </a:p>
        </p:txBody>
      </p:sp>
      <p:sp>
        <p:nvSpPr>
          <p:cNvPr id="9" name="Text 7"/>
          <p:cNvSpPr/>
          <p:nvPr/>
        </p:nvSpPr>
        <p:spPr>
          <a:xfrm>
            <a:off x="457200" y="1750219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34D39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406" dirty="0"/>
          </a:p>
        </p:txBody>
      </p:sp>
      <p:sp>
        <p:nvSpPr>
          <p:cNvPr id="10" name="Text 8"/>
          <p:cNvSpPr/>
          <p:nvPr/>
        </p:nvSpPr>
        <p:spPr>
          <a:xfrm>
            <a:off x="685800" y="1743075"/>
            <a:ext cx="3771900" cy="173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Validation email et password (8 chars, majuscules, minuscules, chiffres)</a:t>
            </a:r>
            <a:endParaRPr lang="en-US" sz="844" dirty="0"/>
          </a:p>
        </p:txBody>
      </p:sp>
      <p:sp>
        <p:nvSpPr>
          <p:cNvPr id="11" name="Text 9"/>
          <p:cNvSpPr/>
          <p:nvPr/>
        </p:nvSpPr>
        <p:spPr>
          <a:xfrm>
            <a:off x="457200" y="2010966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34D39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406" dirty="0"/>
          </a:p>
        </p:txBody>
      </p:sp>
      <p:sp>
        <p:nvSpPr>
          <p:cNvPr id="12" name="Text 10"/>
          <p:cNvSpPr/>
          <p:nvPr/>
        </p:nvSpPr>
        <p:spPr>
          <a:xfrm>
            <a:off x="685800" y="2003822"/>
            <a:ext cx="3771900" cy="173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JWT signe HS256 avec secret synchronise (middleware + auth.ts + route.ts)</a:t>
            </a:r>
            <a:endParaRPr lang="en-US" sz="844" dirty="0"/>
          </a:p>
        </p:txBody>
      </p:sp>
      <p:sp>
        <p:nvSpPr>
          <p:cNvPr id="13" name="Text 11"/>
          <p:cNvSpPr/>
          <p:nvPr/>
        </p:nvSpPr>
        <p:spPr>
          <a:xfrm>
            <a:off x="457200" y="2271713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34D39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406" dirty="0"/>
          </a:p>
        </p:txBody>
      </p:sp>
      <p:sp>
        <p:nvSpPr>
          <p:cNvPr id="14" name="Text 12"/>
          <p:cNvSpPr/>
          <p:nvPr/>
        </p:nvSpPr>
        <p:spPr>
          <a:xfrm>
            <a:off x="685800" y="2264569"/>
            <a:ext cx="3771900" cy="173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2FA RFC 6238 compliant avec backup codes</a:t>
            </a:r>
            <a:endParaRPr lang="en-US" sz="844" dirty="0"/>
          </a:p>
        </p:txBody>
      </p:sp>
      <p:sp>
        <p:nvSpPr>
          <p:cNvPr id="15" name="Text 13"/>
          <p:cNvSpPr/>
          <p:nvPr/>
        </p:nvSpPr>
        <p:spPr>
          <a:xfrm>
            <a:off x="457200" y="2532459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34D39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406" dirty="0"/>
          </a:p>
        </p:txBody>
      </p:sp>
      <p:sp>
        <p:nvSpPr>
          <p:cNvPr id="16" name="Text 14"/>
          <p:cNvSpPr/>
          <p:nvPr/>
        </p:nvSpPr>
        <p:spPr>
          <a:xfrm>
            <a:off x="685800" y="2525316"/>
            <a:ext cx="3771900" cy="173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Comptes hardcodes admin/demo (DB-independent fallback)</a:t>
            </a:r>
            <a:endParaRPr lang="en-US" sz="844" dirty="0"/>
          </a:p>
        </p:txBody>
      </p:sp>
      <p:sp>
        <p:nvSpPr>
          <p:cNvPr id="17" name="Text 15"/>
          <p:cNvSpPr/>
          <p:nvPr/>
        </p:nvSpPr>
        <p:spPr>
          <a:xfrm>
            <a:off x="4689872" y="1232297"/>
            <a:ext cx="3993356" cy="2643188"/>
          </a:xfrm>
          <a:prstGeom prst="roundRect">
            <a:avLst>
              <a:gd name="adj" fmla="val 4324"/>
            </a:avLst>
          </a:prstGeom>
          <a:solidFill>
            <a:srgbClr val="1A1D27"/>
          </a:solidFill>
          <a:ln w="7144">
            <a:solidFill>
              <a:srgbClr val="33415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864894" y="1414463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818CF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406" dirty="0"/>
          </a:p>
        </p:txBody>
      </p:sp>
      <p:sp>
        <p:nvSpPr>
          <p:cNvPr id="19" name="Text 17"/>
          <p:cNvSpPr/>
          <p:nvPr/>
        </p:nvSpPr>
        <p:spPr>
          <a:xfrm>
            <a:off x="5064919" y="1378744"/>
            <a:ext cx="3443288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Architecture</a:t>
            </a:r>
            <a:endParaRPr lang="en-US" sz="1125" dirty="0"/>
          </a:p>
        </p:txBody>
      </p:sp>
      <p:sp>
        <p:nvSpPr>
          <p:cNvPr id="20" name="Text 18"/>
          <p:cNvSpPr/>
          <p:nvPr/>
        </p:nvSpPr>
        <p:spPr>
          <a:xfrm>
            <a:off x="4864894" y="1735931"/>
            <a:ext cx="3643312" cy="1190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AUTH ROUTE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864894" y="1882378"/>
            <a:ext cx="3643313" cy="173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/api/auth — POST login/register/change_password, GET me</a:t>
            </a:r>
            <a:endParaRPr lang="en-US" sz="844" dirty="0"/>
          </a:p>
        </p:txBody>
      </p:sp>
      <p:sp>
        <p:nvSpPr>
          <p:cNvPr id="22" name="Text 20"/>
          <p:cNvSpPr/>
          <p:nvPr/>
        </p:nvSpPr>
        <p:spPr>
          <a:xfrm>
            <a:off x="4864894" y="2157413"/>
            <a:ext cx="3643313" cy="1190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JWT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864894" y="2303859"/>
            <a:ext cx="3753040" cy="173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jose library, HS256, 24h expiry (prod), 7d (dev)</a:t>
            </a:r>
            <a:endParaRPr lang="en-US" sz="844" dirty="0"/>
          </a:p>
        </p:txBody>
      </p:sp>
      <p:sp>
        <p:nvSpPr>
          <p:cNvPr id="24" name="Text 22"/>
          <p:cNvSpPr/>
          <p:nvPr/>
        </p:nvSpPr>
        <p:spPr>
          <a:xfrm>
            <a:off x="4864894" y="2578894"/>
            <a:ext cx="3643312" cy="1190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MIDDLEWARE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864894" y="2725341"/>
            <a:ext cx="3643313" cy="173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Verifie JWT sur toutes les routes /api/* sauf publiques</a:t>
            </a:r>
            <a:endParaRPr lang="en-US" sz="844" dirty="0"/>
          </a:p>
        </p:txBody>
      </p:sp>
      <p:sp>
        <p:nvSpPr>
          <p:cNvPr id="26" name="Text 24"/>
          <p:cNvSpPr/>
          <p:nvPr/>
        </p:nvSpPr>
        <p:spPr>
          <a:xfrm>
            <a:off x="4864894" y="3000375"/>
            <a:ext cx="3643313" cy="1190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2FA ROUTE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864894" y="3146822"/>
            <a:ext cx="3643313" cy="173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/api/auth/2fa — POST enable/verify/disable, GET status</a:t>
            </a:r>
            <a:endParaRPr lang="en-US" sz="844" dirty="0"/>
          </a:p>
        </p:txBody>
      </p:sp>
      <p:sp>
        <p:nvSpPr>
          <p:cNvPr id="28" name="Text 26"/>
          <p:cNvSpPr/>
          <p:nvPr/>
        </p:nvSpPr>
        <p:spPr>
          <a:xfrm>
            <a:off x="4864894" y="3421856"/>
            <a:ext cx="3643313" cy="1190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PASSWORD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864894" y="3568303"/>
            <a:ext cx="3753040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bcryptjs cost 12 + legacy sha256 migration</a:t>
            </a:r>
            <a:endParaRPr lang="en-US" sz="844" dirty="0"/>
          </a:p>
        </p:txBody>
      </p:sp>
      <p:sp>
        <p:nvSpPr>
          <p:cNvPr id="30" name="Text 28"/>
          <p:cNvSpPr/>
          <p:nvPr/>
        </p:nvSpPr>
        <p:spPr>
          <a:xfrm>
            <a:off x="8575759" y="4882753"/>
            <a:ext cx="18422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0050"/>
            <a:ext cx="3365934" cy="370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Module Telegram Agents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3249960" y="481489"/>
            <a:ext cx="973894" cy="180023"/>
          </a:xfrm>
          <a:prstGeom prst="roundRect">
            <a:avLst>
              <a:gd name="adj" fmla="val 31746"/>
            </a:avLst>
          </a:prstGeom>
          <a:solidFill>
            <a:srgbClr val="34D399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249960" y="491133"/>
            <a:ext cx="973894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12" kern="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VERIFIE + CORRIGE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85813"/>
            <a:ext cx="8229600" cy="231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CRUD Agents, AI Config, Role Guards, Services, Bookings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457200" y="1200150"/>
            <a:ext cx="49079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44" kern="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BUGS CORRIGES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1444109"/>
            <a:ext cx="289545" cy="180023"/>
          </a:xfrm>
          <a:prstGeom prst="roundRect">
            <a:avLst>
              <a:gd name="adj" fmla="val 31746"/>
            </a:avLst>
          </a:prstGeom>
          <a:solidFill>
            <a:srgbClr val="F87171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57200" y="1453753"/>
            <a:ext cx="289545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12" kern="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BUG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18183" y="1439466"/>
            <a:ext cx="3639517" cy="347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34D39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Fix 1:</a:t>
            </a:r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openEditAgent() — le champ aiConfig est maintenant lu correctement au lieu de openHours. Le type TelegramAgent inclut aiConfig et aiEnabled.</a:t>
            </a:r>
            <a:endParaRPr lang="en-US" sz="844" dirty="0"/>
          </a:p>
        </p:txBody>
      </p:sp>
      <p:sp>
        <p:nvSpPr>
          <p:cNvPr id="10" name="Text 8"/>
          <p:cNvSpPr/>
          <p:nvPr/>
        </p:nvSpPr>
        <p:spPr>
          <a:xfrm>
            <a:off x="457200" y="1851303"/>
            <a:ext cx="289545" cy="180023"/>
          </a:xfrm>
          <a:prstGeom prst="roundRect">
            <a:avLst>
              <a:gd name="adj" fmla="val 31746"/>
            </a:avLst>
          </a:prstGeom>
          <a:solidFill>
            <a:srgbClr val="F87171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57200" y="1860947"/>
            <a:ext cx="289545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12" kern="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BUG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18183" y="1846659"/>
            <a:ext cx="3639517" cy="347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34D39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Fix 2:</a:t>
            </a:r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AI config visible uniquement pour admins — </a:t>
            </a:r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{isAdmin &amp;&amp; </a:t>
            </a:r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dans le dialog d'edition.</a:t>
            </a:r>
            <a:endParaRPr lang="en-US" sz="844" dirty="0"/>
          </a:p>
        </p:txBody>
      </p:sp>
      <p:sp>
        <p:nvSpPr>
          <p:cNvPr id="13" name="Text 11"/>
          <p:cNvSpPr/>
          <p:nvPr/>
        </p:nvSpPr>
        <p:spPr>
          <a:xfrm>
            <a:off x="457200" y="2258497"/>
            <a:ext cx="289545" cy="180023"/>
          </a:xfrm>
          <a:prstGeom prst="roundRect">
            <a:avLst>
              <a:gd name="adj" fmla="val 31746"/>
            </a:avLst>
          </a:prstGeom>
          <a:solidFill>
            <a:srgbClr val="F87171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57200" y="2268141"/>
            <a:ext cx="289545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12" kern="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BUG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18183" y="2253853"/>
            <a:ext cx="3639517" cy="347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34D39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Fix 3:</a:t>
            </a:r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ApiKey stripe des reponses API GET (double protection: select + post-parsing).</a:t>
            </a:r>
            <a:endParaRPr lang="en-US" sz="844" dirty="0"/>
          </a:p>
        </p:txBody>
      </p:sp>
      <p:sp>
        <p:nvSpPr>
          <p:cNvPr id="16" name="Text 14"/>
          <p:cNvSpPr/>
          <p:nvPr/>
        </p:nvSpPr>
        <p:spPr>
          <a:xfrm>
            <a:off x="457200" y="2746772"/>
            <a:ext cx="49079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44" kern="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POINTS VERIFIES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" y="299323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34D39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18" name="Text 16"/>
          <p:cNvSpPr/>
          <p:nvPr/>
        </p:nvSpPr>
        <p:spPr>
          <a:xfrm>
            <a:off x="657225" y="2986088"/>
            <a:ext cx="3800475" cy="167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44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Plan limits (maxTelegramAgents) verifie a la creation</a:t>
            </a:r>
            <a:endParaRPr lang="en-US" sz="844" dirty="0"/>
          </a:p>
        </p:txBody>
      </p:sp>
      <p:sp>
        <p:nvSpPr>
          <p:cNvPr id="19" name="Text 17"/>
          <p:cNvSpPr/>
          <p:nvPr/>
        </p:nvSpPr>
        <p:spPr>
          <a:xfrm>
            <a:off x="457200" y="322004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34D39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20" name="Text 18"/>
          <p:cNvSpPr/>
          <p:nvPr/>
        </p:nvSpPr>
        <p:spPr>
          <a:xfrm>
            <a:off x="657225" y="3212902"/>
            <a:ext cx="3800475" cy="167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44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Non-admin: POST = mise a jour token uniquement, PUT = token uniquement</a:t>
            </a:r>
            <a:endParaRPr lang="en-US" sz="844" dirty="0"/>
          </a:p>
        </p:txBody>
      </p:sp>
      <p:sp>
        <p:nvSpPr>
          <p:cNvPr id="21" name="Text 19"/>
          <p:cNvSpPr/>
          <p:nvPr/>
        </p:nvSpPr>
        <p:spPr>
          <a:xfrm>
            <a:off x="457200" y="3446859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34D39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22" name="Text 20"/>
          <p:cNvSpPr/>
          <p:nvPr/>
        </p:nvSpPr>
        <p:spPr>
          <a:xfrm>
            <a:off x="657225" y="3439716"/>
            <a:ext cx="3800475" cy="167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44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DELETE = admin-only (403 pour les autres)</a:t>
            </a:r>
            <a:endParaRPr lang="en-US" sz="844" dirty="0"/>
          </a:p>
        </p:txBody>
      </p:sp>
      <p:sp>
        <p:nvSpPr>
          <p:cNvPr id="23" name="Text 21"/>
          <p:cNvSpPr/>
          <p:nvPr/>
        </p:nvSpPr>
        <p:spPr>
          <a:xfrm>
            <a:off x="457200" y="367367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34D39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24" name="Text 22"/>
          <p:cNvSpPr/>
          <p:nvPr/>
        </p:nvSpPr>
        <p:spPr>
          <a:xfrm>
            <a:off x="657225" y="3666530"/>
            <a:ext cx="3800475" cy="167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44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Token bot jamais expose au client (token: false dans select Prisma)</a:t>
            </a:r>
            <a:endParaRPr lang="en-US" sz="844" dirty="0"/>
          </a:p>
        </p:txBody>
      </p:sp>
      <p:sp>
        <p:nvSpPr>
          <p:cNvPr id="25" name="Text 23"/>
          <p:cNvSpPr/>
          <p:nvPr/>
        </p:nvSpPr>
        <p:spPr>
          <a:xfrm>
            <a:off x="4689872" y="1203722"/>
            <a:ext cx="3993356" cy="3321844"/>
          </a:xfrm>
          <a:prstGeom prst="roundRect">
            <a:avLst>
              <a:gd name="adj" fmla="val 3441"/>
            </a:avLst>
          </a:prstGeom>
          <a:solidFill>
            <a:srgbClr val="1A1D27"/>
          </a:solidFill>
          <a:ln w="7144">
            <a:solidFill>
              <a:srgbClr val="33415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864894" y="1385888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818CF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406" dirty="0"/>
          </a:p>
        </p:txBody>
      </p:sp>
      <p:sp>
        <p:nvSpPr>
          <p:cNvPr id="27" name="Text 25"/>
          <p:cNvSpPr/>
          <p:nvPr/>
        </p:nvSpPr>
        <p:spPr>
          <a:xfrm>
            <a:off x="5064919" y="1350169"/>
            <a:ext cx="3443288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Role Separation Schema</a:t>
            </a:r>
            <a:endParaRPr lang="en-US" sz="1125" dirty="0"/>
          </a:p>
        </p:txBody>
      </p:sp>
      <p:sp>
        <p:nvSpPr>
          <p:cNvPr id="28" name="Text 26"/>
          <p:cNvSpPr/>
          <p:nvPr/>
        </p:nvSpPr>
        <p:spPr>
          <a:xfrm>
            <a:off x="4864894" y="1759148"/>
            <a:ext cx="57150" cy="57150"/>
          </a:xfrm>
          <a:prstGeom prst="ellipse">
            <a:avLst/>
          </a:prstGeom>
          <a:solidFill>
            <a:srgbClr val="22D3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979194" y="1707356"/>
            <a:ext cx="3529013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22D3E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Admin (company_admin / super_admin)</a:t>
            </a:r>
            <a:endParaRPr lang="en-US" sz="844" dirty="0"/>
          </a:p>
        </p:txBody>
      </p:sp>
      <p:sp>
        <p:nvSpPr>
          <p:cNvPr id="30" name="Text 28"/>
          <p:cNvSpPr/>
          <p:nvPr/>
        </p:nvSpPr>
        <p:spPr>
          <a:xfrm>
            <a:off x="4864894" y="1939528"/>
            <a:ext cx="3643313" cy="1039416"/>
          </a:xfrm>
          <a:prstGeom prst="roundRect">
            <a:avLst>
              <a:gd name="adj" fmla="val 7331"/>
            </a:avLst>
          </a:prstGeom>
          <a:solidFill>
            <a:srgbClr val="22263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979194" y="2037755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34D39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25" dirty="0"/>
          </a:p>
        </p:txBody>
      </p:sp>
      <p:sp>
        <p:nvSpPr>
          <p:cNvPr id="32" name="Text 30"/>
          <p:cNvSpPr/>
          <p:nvPr/>
        </p:nvSpPr>
        <p:spPr>
          <a:xfrm>
            <a:off x="5150644" y="2025253"/>
            <a:ext cx="324326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GET — Lire tous les agents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979194" y="2219920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34D39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25" dirty="0"/>
          </a:p>
        </p:txBody>
      </p:sp>
      <p:sp>
        <p:nvSpPr>
          <p:cNvPr id="34" name="Text 32"/>
          <p:cNvSpPr/>
          <p:nvPr/>
        </p:nvSpPr>
        <p:spPr>
          <a:xfrm>
            <a:off x="5150644" y="2207419"/>
            <a:ext cx="324326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POST — Creer un agent (avec AI config)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979194" y="2402086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34D39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25" dirty="0"/>
          </a:p>
        </p:txBody>
      </p:sp>
      <p:sp>
        <p:nvSpPr>
          <p:cNvPr id="36" name="Text 34"/>
          <p:cNvSpPr/>
          <p:nvPr/>
        </p:nvSpPr>
        <p:spPr>
          <a:xfrm>
            <a:off x="5150644" y="2389584"/>
            <a:ext cx="324326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PUT — Modifier toutes les fields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979194" y="2584252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34D39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25" dirty="0"/>
          </a:p>
        </p:txBody>
      </p:sp>
      <p:sp>
        <p:nvSpPr>
          <p:cNvPr id="38" name="Text 36"/>
          <p:cNvSpPr/>
          <p:nvPr/>
        </p:nvSpPr>
        <p:spPr>
          <a:xfrm>
            <a:off x="5150644" y="2571750"/>
            <a:ext cx="324326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DELETE — Supprimer un agent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979194" y="2766417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34D39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25" dirty="0"/>
          </a:p>
        </p:txBody>
      </p:sp>
      <p:sp>
        <p:nvSpPr>
          <p:cNvPr id="40" name="Text 38"/>
          <p:cNvSpPr/>
          <p:nvPr/>
        </p:nvSpPr>
        <p:spPr>
          <a:xfrm>
            <a:off x="5150644" y="2753916"/>
            <a:ext cx="324326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Config — Acces complet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864894" y="3159323"/>
            <a:ext cx="57150" cy="57150"/>
          </a:xfrm>
          <a:prstGeom prst="ellipse">
            <a:avLst/>
          </a:prstGeom>
          <a:solidFill>
            <a:srgbClr val="64748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4979194" y="3107531"/>
            <a:ext cx="3529013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Agent / Viewer</a:t>
            </a:r>
            <a:endParaRPr lang="en-US" sz="844" dirty="0"/>
          </a:p>
        </p:txBody>
      </p:sp>
      <p:sp>
        <p:nvSpPr>
          <p:cNvPr id="43" name="Text 41"/>
          <p:cNvSpPr/>
          <p:nvPr/>
        </p:nvSpPr>
        <p:spPr>
          <a:xfrm>
            <a:off x="4864894" y="3339703"/>
            <a:ext cx="3643313" cy="1039416"/>
          </a:xfrm>
          <a:prstGeom prst="roundRect">
            <a:avLst>
              <a:gd name="adj" fmla="val 7331"/>
            </a:avLst>
          </a:prstGeom>
          <a:solidFill>
            <a:srgbClr val="22263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4979194" y="3437930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34D39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25" dirty="0"/>
          </a:p>
        </p:txBody>
      </p:sp>
      <p:sp>
        <p:nvSpPr>
          <p:cNvPr id="45" name="Text 43"/>
          <p:cNvSpPr/>
          <p:nvPr/>
        </p:nvSpPr>
        <p:spPr>
          <a:xfrm>
            <a:off x="5150644" y="3425428"/>
            <a:ext cx="324326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GET — Lire ses propres agents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979194" y="3620095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34D39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25" dirty="0"/>
          </a:p>
        </p:txBody>
      </p:sp>
      <p:sp>
        <p:nvSpPr>
          <p:cNvPr id="47" name="Text 45"/>
          <p:cNvSpPr/>
          <p:nvPr/>
        </p:nvSpPr>
        <p:spPr>
          <a:xfrm>
            <a:off x="5150644" y="3607594"/>
            <a:ext cx="324326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POST / PUT — Token bot uniquement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4979194" y="3802261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F8717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✕</a:t>
            </a:r>
            <a:endParaRPr lang="en-US" sz="1125" dirty="0"/>
          </a:p>
        </p:txBody>
      </p:sp>
      <p:sp>
        <p:nvSpPr>
          <p:cNvPr id="49" name="Text 47"/>
          <p:cNvSpPr/>
          <p:nvPr/>
        </p:nvSpPr>
        <p:spPr>
          <a:xfrm>
            <a:off x="5150644" y="3789759"/>
            <a:ext cx="324326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DELETE — Interdit (403)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4979194" y="3984427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F8717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✕</a:t>
            </a:r>
            <a:endParaRPr lang="en-US" sz="1125" dirty="0"/>
          </a:p>
        </p:txBody>
      </p:sp>
      <p:sp>
        <p:nvSpPr>
          <p:cNvPr id="51" name="Text 49"/>
          <p:cNvSpPr/>
          <p:nvPr/>
        </p:nvSpPr>
        <p:spPr>
          <a:xfrm>
            <a:off x="5150644" y="3971925"/>
            <a:ext cx="324326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Config — Non visible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4979194" y="4166592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F8717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✕</a:t>
            </a:r>
            <a:endParaRPr lang="en-US" sz="1125" dirty="0"/>
          </a:p>
        </p:txBody>
      </p:sp>
      <p:sp>
        <p:nvSpPr>
          <p:cNvPr id="53" name="Text 51"/>
          <p:cNvSpPr/>
          <p:nvPr/>
        </p:nvSpPr>
        <p:spPr>
          <a:xfrm>
            <a:off x="5150644" y="4154091"/>
            <a:ext cx="3243263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ApiKey — Stripe des reponses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8575759" y="4882753"/>
            <a:ext cx="18422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0050"/>
            <a:ext cx="3715448" cy="370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Module Chariow Paiements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3529571" y="481489"/>
            <a:ext cx="533995" cy="180023"/>
          </a:xfrm>
          <a:prstGeom prst="roundRect">
            <a:avLst>
              <a:gd name="adj" fmla="val 31746"/>
            </a:avLst>
          </a:prstGeom>
          <a:solidFill>
            <a:srgbClr val="34D399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481466" y="491133"/>
            <a:ext cx="630204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12" kern="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AMELIORE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85813"/>
            <a:ext cx="8636000" cy="231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Checkout, Webhook, Plan Upgrade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457200" y="1200150"/>
            <a:ext cx="49079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44" kern="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BUG CORRIGE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1444109"/>
            <a:ext cx="387325" cy="180023"/>
          </a:xfrm>
          <a:prstGeom prst="roundRect">
            <a:avLst>
              <a:gd name="adj" fmla="val 31746"/>
            </a:avLst>
          </a:prstGeom>
          <a:solidFill>
            <a:srgbClr val="FBBF24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47256" y="1453753"/>
            <a:ext cx="407213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12" kern="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MOYEN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915963" y="1439466"/>
            <a:ext cx="3541737" cy="5207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Validation d'upgrade de plan ajoutee dans checkout — empeche de payer pour un plan inferieur ou identique. Utilise </a:t>
            </a:r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PLAN_ORDER</a:t>
            </a:r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pour comparer les index.</a:t>
            </a:r>
            <a:endParaRPr lang="en-US" sz="844" dirty="0"/>
          </a:p>
        </p:txBody>
      </p:sp>
      <p:sp>
        <p:nvSpPr>
          <p:cNvPr id="10" name="Text 8"/>
          <p:cNvSpPr/>
          <p:nvPr/>
        </p:nvSpPr>
        <p:spPr>
          <a:xfrm>
            <a:off x="457200" y="2093119"/>
            <a:ext cx="49079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44" kern="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POINTS VERIFIES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57200" y="233957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34D39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12" name="Text 10"/>
          <p:cNvSpPr/>
          <p:nvPr/>
        </p:nvSpPr>
        <p:spPr>
          <a:xfrm>
            <a:off x="657225" y="2332434"/>
            <a:ext cx="3800475" cy="167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44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Webhook: timing-safe comparison pour signature</a:t>
            </a:r>
            <a:endParaRPr lang="en-US" sz="844" dirty="0"/>
          </a:p>
        </p:txBody>
      </p:sp>
      <p:sp>
        <p:nvSpPr>
          <p:cNvPr id="13" name="Text 11"/>
          <p:cNvSpPr/>
          <p:nvPr/>
        </p:nvSpPr>
        <p:spPr>
          <a:xfrm>
            <a:off x="457200" y="2566392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34D39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14" name="Text 12"/>
          <p:cNvSpPr/>
          <p:nvPr/>
        </p:nvSpPr>
        <p:spPr>
          <a:xfrm>
            <a:off x="657225" y="2559248"/>
            <a:ext cx="3800475" cy="175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44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Anti-underpay: </a:t>
            </a:r>
            <a:pPr algn="l" indent="0" marL="0">
              <a:lnSpc>
                <a:spcPts val="1223"/>
              </a:lnSpc>
              <a:buNone/>
            </a:pPr>
            <a:r>
              <a:rPr lang="en-US" sz="844" dirty="0">
                <a:solidFill>
                  <a:srgbClr val="22D3E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95%</a:t>
            </a:r>
            <a:pPr algn="l" indent="0" marL="0">
              <a:lnSpc>
                <a:spcPts val="1223"/>
              </a:lnSpc>
              <a:buNone/>
            </a:pPr>
            <a:r>
              <a:rPr lang="en-US" sz="844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tolerance sur le montant</a:t>
            </a:r>
            <a:endParaRPr lang="en-US" sz="844" dirty="0"/>
          </a:p>
        </p:txBody>
      </p:sp>
      <p:sp>
        <p:nvSpPr>
          <p:cNvPr id="15" name="Text 13"/>
          <p:cNvSpPr/>
          <p:nvPr/>
        </p:nvSpPr>
        <p:spPr>
          <a:xfrm>
            <a:off x="457200" y="280035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34D39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16" name="Text 14"/>
          <p:cNvSpPr/>
          <p:nvPr/>
        </p:nvSpPr>
        <p:spPr>
          <a:xfrm>
            <a:off x="657225" y="2793206"/>
            <a:ext cx="3800475" cy="167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44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Anti-downgrade: bloque si plan cible &lt; plan actuel</a:t>
            </a:r>
            <a:endParaRPr lang="en-US" sz="844" dirty="0"/>
          </a:p>
        </p:txBody>
      </p:sp>
      <p:sp>
        <p:nvSpPr>
          <p:cNvPr id="17" name="Text 15"/>
          <p:cNvSpPr/>
          <p:nvPr/>
        </p:nvSpPr>
        <p:spPr>
          <a:xfrm>
            <a:off x="457200" y="302716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34D39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18" name="Text 16"/>
          <p:cNvSpPr/>
          <p:nvPr/>
        </p:nvSpPr>
        <p:spPr>
          <a:xfrm>
            <a:off x="657225" y="3020020"/>
            <a:ext cx="3800475" cy="167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44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Idempotency: skip si deja completed</a:t>
            </a:r>
            <a:endParaRPr lang="en-US" sz="844" dirty="0"/>
          </a:p>
        </p:txBody>
      </p:sp>
      <p:sp>
        <p:nvSpPr>
          <p:cNvPr id="19" name="Text 17"/>
          <p:cNvSpPr/>
          <p:nvPr/>
        </p:nvSpPr>
        <p:spPr>
          <a:xfrm>
            <a:off x="457200" y="325397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34D39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20" name="Text 18"/>
          <p:cNvSpPr/>
          <p:nvPr/>
        </p:nvSpPr>
        <p:spPr>
          <a:xfrm>
            <a:off x="657225" y="3246834"/>
            <a:ext cx="3800475" cy="175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44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Transaction atomique: </a:t>
            </a:r>
            <a:pPr algn="l" indent="0" marL="0">
              <a:lnSpc>
                <a:spcPts val="1223"/>
              </a:lnSpc>
              <a:buNone/>
            </a:pPr>
            <a:r>
              <a:rPr lang="en-US" sz="844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db.$transaction</a:t>
            </a:r>
            <a:pPr algn="l" indent="0" marL="0">
              <a:lnSpc>
                <a:spcPts val="1223"/>
              </a:lnSpc>
              <a:buNone/>
            </a:pPr>
            <a:r>
              <a:rPr lang="en-US" sz="844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pour la mise a jour</a:t>
            </a:r>
            <a:endParaRPr lang="en-US" sz="844" dirty="0"/>
          </a:p>
        </p:txBody>
      </p:sp>
      <p:sp>
        <p:nvSpPr>
          <p:cNvPr id="21" name="Text 19"/>
          <p:cNvSpPr/>
          <p:nvPr/>
        </p:nvSpPr>
        <p:spPr>
          <a:xfrm>
            <a:off x="457200" y="348793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34D39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22" name="Text 20"/>
          <p:cNvSpPr/>
          <p:nvPr/>
        </p:nvSpPr>
        <p:spPr>
          <a:xfrm>
            <a:off x="657225" y="3480792"/>
            <a:ext cx="3800475" cy="167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44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Anti-replay: status check avant processing</a:t>
            </a:r>
            <a:endParaRPr lang="en-US" sz="844" dirty="0"/>
          </a:p>
        </p:txBody>
      </p:sp>
      <p:sp>
        <p:nvSpPr>
          <p:cNvPr id="23" name="Text 21"/>
          <p:cNvSpPr/>
          <p:nvPr/>
        </p:nvSpPr>
        <p:spPr>
          <a:xfrm>
            <a:off x="4689872" y="1203722"/>
            <a:ext cx="3993356" cy="1728788"/>
          </a:xfrm>
          <a:prstGeom prst="roundRect">
            <a:avLst>
              <a:gd name="adj" fmla="val 6612"/>
            </a:avLst>
          </a:prstGeom>
          <a:solidFill>
            <a:srgbClr val="1A1D27"/>
          </a:solidFill>
          <a:ln w="7144">
            <a:solidFill>
              <a:srgbClr val="33415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864894" y="1385888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818CF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$</a:t>
            </a:r>
            <a:endParaRPr lang="en-US" sz="1406" dirty="0"/>
          </a:p>
        </p:txBody>
      </p:sp>
      <p:sp>
        <p:nvSpPr>
          <p:cNvPr id="25" name="Text 23"/>
          <p:cNvSpPr/>
          <p:nvPr/>
        </p:nvSpPr>
        <p:spPr>
          <a:xfrm>
            <a:off x="5064919" y="1350169"/>
            <a:ext cx="3443288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Prix Plans FCFA</a:t>
            </a:r>
            <a:endParaRPr lang="en-US" sz="1125" dirty="0"/>
          </a:p>
        </p:txBody>
      </p:sp>
      <p:sp>
        <p:nvSpPr>
          <p:cNvPr id="26" name="Text 24"/>
          <p:cNvSpPr/>
          <p:nvPr/>
        </p:nvSpPr>
        <p:spPr>
          <a:xfrm>
            <a:off x="4864894" y="1678781"/>
            <a:ext cx="1785938" cy="517922"/>
          </a:xfrm>
          <a:prstGeom prst="roundRect">
            <a:avLst>
              <a:gd name="adj" fmla="val 14713"/>
            </a:avLst>
          </a:prstGeom>
          <a:solidFill>
            <a:srgbClr val="22263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964906" y="1764506"/>
            <a:ext cx="1585912" cy="1047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STARTER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964906" y="1896666"/>
            <a:ext cx="1585912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F1F5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5 000</a:t>
            </a:r>
            <a:endParaRPr lang="en-US" sz="1125" dirty="0"/>
          </a:p>
        </p:txBody>
      </p:sp>
      <p:sp>
        <p:nvSpPr>
          <p:cNvPr id="29" name="Text 27"/>
          <p:cNvSpPr/>
          <p:nvPr/>
        </p:nvSpPr>
        <p:spPr>
          <a:xfrm>
            <a:off x="6722269" y="1678781"/>
            <a:ext cx="1785938" cy="517922"/>
          </a:xfrm>
          <a:prstGeom prst="roundRect">
            <a:avLst>
              <a:gd name="adj" fmla="val 14713"/>
            </a:avLst>
          </a:prstGeom>
          <a:solidFill>
            <a:srgbClr val="22263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822281" y="1764506"/>
            <a:ext cx="1585912" cy="1047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822281" y="1896666"/>
            <a:ext cx="1585912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818C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14 900</a:t>
            </a:r>
            <a:endParaRPr lang="en-US" sz="1125" dirty="0"/>
          </a:p>
        </p:txBody>
      </p:sp>
      <p:sp>
        <p:nvSpPr>
          <p:cNvPr id="32" name="Text 30"/>
          <p:cNvSpPr/>
          <p:nvPr/>
        </p:nvSpPr>
        <p:spPr>
          <a:xfrm>
            <a:off x="4864894" y="2268141"/>
            <a:ext cx="1785938" cy="517922"/>
          </a:xfrm>
          <a:prstGeom prst="roundRect">
            <a:avLst>
              <a:gd name="adj" fmla="val 14713"/>
            </a:avLst>
          </a:prstGeom>
          <a:solidFill>
            <a:srgbClr val="22263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964906" y="2353866"/>
            <a:ext cx="1585912" cy="1047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BUSINESS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964906" y="2486025"/>
            <a:ext cx="1585912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F1F5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29 900</a:t>
            </a:r>
            <a:endParaRPr lang="en-US" sz="1125" dirty="0"/>
          </a:p>
        </p:txBody>
      </p:sp>
      <p:sp>
        <p:nvSpPr>
          <p:cNvPr id="35" name="Text 33"/>
          <p:cNvSpPr/>
          <p:nvPr/>
        </p:nvSpPr>
        <p:spPr>
          <a:xfrm>
            <a:off x="6722269" y="2268141"/>
            <a:ext cx="1785938" cy="517922"/>
          </a:xfrm>
          <a:prstGeom prst="roundRect">
            <a:avLst>
              <a:gd name="adj" fmla="val 14713"/>
            </a:avLst>
          </a:prstGeom>
          <a:solidFill>
            <a:srgbClr val="22263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6822281" y="2353866"/>
            <a:ext cx="1585913" cy="1047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ENTERPRISE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822281" y="2486025"/>
            <a:ext cx="1585912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22D3E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69 900</a:t>
            </a:r>
            <a:endParaRPr lang="en-US" sz="1125" dirty="0"/>
          </a:p>
        </p:txBody>
      </p:sp>
      <p:sp>
        <p:nvSpPr>
          <p:cNvPr id="38" name="Text 36"/>
          <p:cNvSpPr/>
          <p:nvPr/>
        </p:nvSpPr>
        <p:spPr>
          <a:xfrm>
            <a:off x="4689872" y="3053953"/>
            <a:ext cx="3993356" cy="1503759"/>
          </a:xfrm>
          <a:prstGeom prst="roundRect">
            <a:avLst>
              <a:gd name="adj" fmla="val 7601"/>
            </a:avLst>
          </a:prstGeom>
          <a:solidFill>
            <a:srgbClr val="1A1D27"/>
          </a:solidFill>
          <a:ln w="7144">
            <a:solidFill>
              <a:srgbClr val="33415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4864894" y="3236119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818CF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✿</a:t>
            </a:r>
            <a:endParaRPr lang="en-US" sz="1406" dirty="0"/>
          </a:p>
        </p:txBody>
      </p:sp>
      <p:sp>
        <p:nvSpPr>
          <p:cNvPr id="40" name="Text 38"/>
          <p:cNvSpPr/>
          <p:nvPr/>
        </p:nvSpPr>
        <p:spPr>
          <a:xfrm>
            <a:off x="5064919" y="3200400"/>
            <a:ext cx="3443288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Architecture Checkout</a:t>
            </a:r>
            <a:endParaRPr lang="en-US" sz="1125" dirty="0"/>
          </a:p>
        </p:txBody>
      </p:sp>
      <p:sp>
        <p:nvSpPr>
          <p:cNvPr id="41" name="Text 39"/>
          <p:cNvSpPr/>
          <p:nvPr/>
        </p:nvSpPr>
        <p:spPr>
          <a:xfrm>
            <a:off x="4864894" y="3516211"/>
            <a:ext cx="578086" cy="325641"/>
          </a:xfrm>
          <a:prstGeom prst="roundRect">
            <a:avLst>
              <a:gd name="adj" fmla="val 17550"/>
            </a:avLst>
          </a:prstGeom>
          <a:solidFill>
            <a:srgbClr val="222639"/>
          </a:solidFill>
          <a:ln w="7144">
            <a:solidFill>
              <a:srgbClr val="33415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4904268" y="3629025"/>
            <a:ext cx="499337" cy="126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Checkout</a:t>
            </a:r>
            <a:endParaRPr lang="en-US" sz="731" dirty="0"/>
          </a:p>
        </p:txBody>
      </p:sp>
      <p:sp>
        <p:nvSpPr>
          <p:cNvPr id="43" name="Text 41"/>
          <p:cNvSpPr/>
          <p:nvPr/>
        </p:nvSpPr>
        <p:spPr>
          <a:xfrm>
            <a:off x="5500129" y="361473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64748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266" dirty="0"/>
          </a:p>
        </p:txBody>
      </p:sp>
      <p:sp>
        <p:nvSpPr>
          <p:cNvPr id="44" name="Text 42"/>
          <p:cNvSpPr/>
          <p:nvPr/>
        </p:nvSpPr>
        <p:spPr>
          <a:xfrm>
            <a:off x="5685867" y="3516211"/>
            <a:ext cx="774204" cy="325641"/>
          </a:xfrm>
          <a:prstGeom prst="roundRect">
            <a:avLst>
              <a:gd name="adj" fmla="val 17550"/>
            </a:avLst>
          </a:prstGeom>
          <a:solidFill>
            <a:srgbClr val="222639"/>
          </a:solidFill>
          <a:ln w="7144">
            <a:solidFill>
              <a:srgbClr val="33415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5688511" y="3629025"/>
            <a:ext cx="768916" cy="126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Chariow Store</a:t>
            </a:r>
            <a:endParaRPr lang="en-US" sz="731" dirty="0"/>
          </a:p>
        </p:txBody>
      </p:sp>
      <p:sp>
        <p:nvSpPr>
          <p:cNvPr id="46" name="Text 44"/>
          <p:cNvSpPr/>
          <p:nvPr/>
        </p:nvSpPr>
        <p:spPr>
          <a:xfrm>
            <a:off x="6517221" y="361473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64748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266" dirty="0"/>
          </a:p>
        </p:txBody>
      </p:sp>
      <p:sp>
        <p:nvSpPr>
          <p:cNvPr id="47" name="Text 45"/>
          <p:cNvSpPr/>
          <p:nvPr/>
        </p:nvSpPr>
        <p:spPr>
          <a:xfrm>
            <a:off x="6702958" y="3516211"/>
            <a:ext cx="576411" cy="325641"/>
          </a:xfrm>
          <a:prstGeom prst="roundRect">
            <a:avLst>
              <a:gd name="adj" fmla="val 17550"/>
            </a:avLst>
          </a:prstGeom>
          <a:solidFill>
            <a:srgbClr val="222639"/>
          </a:solidFill>
          <a:ln w="7144">
            <a:solidFill>
              <a:srgbClr val="33415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6769988" y="3629025"/>
            <a:ext cx="442352" cy="126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Webhook</a:t>
            </a:r>
            <a:endParaRPr lang="en-US" sz="731" dirty="0"/>
          </a:p>
        </p:txBody>
      </p:sp>
      <p:sp>
        <p:nvSpPr>
          <p:cNvPr id="49" name="Text 47"/>
          <p:cNvSpPr/>
          <p:nvPr/>
        </p:nvSpPr>
        <p:spPr>
          <a:xfrm>
            <a:off x="7336520" y="361473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64748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266" dirty="0"/>
          </a:p>
        </p:txBody>
      </p:sp>
      <p:sp>
        <p:nvSpPr>
          <p:cNvPr id="50" name="Text 48"/>
          <p:cNvSpPr/>
          <p:nvPr/>
        </p:nvSpPr>
        <p:spPr>
          <a:xfrm>
            <a:off x="4842034" y="3873398"/>
            <a:ext cx="1070178" cy="325641"/>
          </a:xfrm>
          <a:prstGeom prst="roundRect">
            <a:avLst>
              <a:gd name="adj" fmla="val 17550"/>
            </a:avLst>
          </a:prstGeom>
          <a:solidFill>
            <a:srgbClr val="222639"/>
          </a:solidFill>
          <a:ln w="7144">
            <a:solidFill>
              <a:srgbClr val="818CF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4957763" y="3986213"/>
            <a:ext cx="838721" cy="126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818C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db.$transaction</a:t>
            </a:r>
            <a:endParaRPr lang="en-US" sz="731" dirty="0"/>
          </a:p>
        </p:txBody>
      </p:sp>
      <p:sp>
        <p:nvSpPr>
          <p:cNvPr id="52" name="Text 50"/>
          <p:cNvSpPr/>
          <p:nvPr/>
        </p:nvSpPr>
        <p:spPr>
          <a:xfrm>
            <a:off x="4893469" y="4284464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34D39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25" dirty="0"/>
          </a:p>
        </p:txBody>
      </p:sp>
      <p:sp>
        <p:nvSpPr>
          <p:cNvPr id="53" name="Text 51"/>
          <p:cNvSpPr/>
          <p:nvPr/>
        </p:nvSpPr>
        <p:spPr>
          <a:xfrm>
            <a:off x="5064919" y="4271963"/>
            <a:ext cx="3443288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Plan Upgrade + Subscription Update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8575759" y="4882753"/>
            <a:ext cx="18422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0050"/>
            <a:ext cx="3239523" cy="370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Autres Modules Verifies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3163119" y="501848"/>
            <a:ext cx="552368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Plan Limits · Members · Bookings · Sync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60772" y="946547"/>
            <a:ext cx="4050506" cy="1835944"/>
          </a:xfrm>
          <a:prstGeom prst="roundRect">
            <a:avLst>
              <a:gd name="adj" fmla="val 6226"/>
            </a:avLst>
          </a:prstGeom>
          <a:solidFill>
            <a:srgbClr val="222639"/>
          </a:solidFill>
          <a:ln w="7144">
            <a:solidFill>
              <a:srgbClr val="33415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35794" y="1092994"/>
            <a:ext cx="285750" cy="285750"/>
          </a:xfrm>
          <a:prstGeom prst="roundRect">
            <a:avLst>
              <a:gd name="adj" fmla="val 33333"/>
            </a:avLst>
          </a:prstGeom>
          <a:solidFill>
            <a:srgbClr val="818CF8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75084" y="1132284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818CF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406" dirty="0"/>
          </a:p>
        </p:txBody>
      </p:sp>
      <p:sp>
        <p:nvSpPr>
          <p:cNvPr id="7" name="Text 5"/>
          <p:cNvSpPr/>
          <p:nvPr/>
        </p:nvSpPr>
        <p:spPr>
          <a:xfrm>
            <a:off x="935860" y="1128713"/>
            <a:ext cx="1007612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Plan Limits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4084628" y="1145858"/>
            <a:ext cx="262601" cy="180023"/>
          </a:xfrm>
          <a:prstGeom prst="roundRect">
            <a:avLst>
              <a:gd name="adj" fmla="val 31746"/>
            </a:avLst>
          </a:prstGeom>
          <a:solidFill>
            <a:srgbClr val="34D399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095601" y="1155502"/>
            <a:ext cx="240655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12" kern="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OK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35794" y="1464469"/>
            <a:ext cx="3700463" cy="5428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7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checkPlanLimit()</a:t>
            </a:r>
            <a:pPr algn="l" indent="0" marL="0">
              <a:lnSpc>
                <a:spcPts val="1207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centralise — starter: 2 agents TG, 500 contacts / pro: 5 agents, 2000 contacts / business: 12 agents, 5000 contacts / enterprise: illimite (999999). Enforce sur: agents, contacts, products, bookings, automations, campaigns.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632722" y="946547"/>
            <a:ext cx="4050506" cy="1835944"/>
          </a:xfrm>
          <a:prstGeom prst="roundRect">
            <a:avLst>
              <a:gd name="adj" fmla="val 6226"/>
            </a:avLst>
          </a:prstGeom>
          <a:solidFill>
            <a:srgbClr val="222639"/>
          </a:solidFill>
          <a:ln w="7144">
            <a:solidFill>
              <a:srgbClr val="33415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807744" y="1092994"/>
            <a:ext cx="285750" cy="285750"/>
          </a:xfrm>
          <a:prstGeom prst="roundRect">
            <a:avLst>
              <a:gd name="adj" fmla="val 33333"/>
            </a:avLst>
          </a:prstGeom>
          <a:solidFill>
            <a:srgbClr val="22D3EE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847034" y="1132284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♟</a:t>
            </a:r>
            <a:endParaRPr lang="en-US" sz="1406" dirty="0"/>
          </a:p>
        </p:txBody>
      </p:sp>
      <p:sp>
        <p:nvSpPr>
          <p:cNvPr id="14" name="Text 12"/>
          <p:cNvSpPr/>
          <p:nvPr/>
        </p:nvSpPr>
        <p:spPr>
          <a:xfrm>
            <a:off x="5164931" y="1128713"/>
            <a:ext cx="802958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Members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8256578" y="1145858"/>
            <a:ext cx="262601" cy="180023"/>
          </a:xfrm>
          <a:prstGeom prst="roundRect">
            <a:avLst>
              <a:gd name="adj" fmla="val 31746"/>
            </a:avLst>
          </a:prstGeom>
          <a:solidFill>
            <a:srgbClr val="34D399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267551" y="1155502"/>
            <a:ext cx="240655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12" kern="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OK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807744" y="1464469"/>
            <a:ext cx="3700463" cy="361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7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Admin-only: POST invite, DELETE remove. </a:t>
            </a:r>
            <a:pPr algn="l" indent="0" marL="0">
              <a:lnSpc>
                <a:spcPts val="1207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checkPlanLimit(maxAgents)</a:t>
            </a:r>
            <a:pPr algn="l" indent="0" marL="0">
              <a:lnSpc>
                <a:spcPts val="1207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avant creation. Role validation: company_admin, agent, viewer uniquement.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60772" y="2903934"/>
            <a:ext cx="4050506" cy="1835944"/>
          </a:xfrm>
          <a:prstGeom prst="roundRect">
            <a:avLst>
              <a:gd name="adj" fmla="val 6226"/>
            </a:avLst>
          </a:prstGeom>
          <a:solidFill>
            <a:srgbClr val="222639"/>
          </a:solidFill>
          <a:ln w="7144">
            <a:solidFill>
              <a:srgbClr val="33415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35794" y="3050381"/>
            <a:ext cx="285750" cy="285750"/>
          </a:xfrm>
          <a:prstGeom prst="roundRect">
            <a:avLst>
              <a:gd name="adj" fmla="val 33333"/>
            </a:avLst>
          </a:prstGeom>
          <a:solidFill>
            <a:srgbClr val="34D399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75084" y="3089672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34D39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406" dirty="0"/>
          </a:p>
        </p:txBody>
      </p:sp>
      <p:sp>
        <p:nvSpPr>
          <p:cNvPr id="21" name="Text 19"/>
          <p:cNvSpPr/>
          <p:nvPr/>
        </p:nvSpPr>
        <p:spPr>
          <a:xfrm>
            <a:off x="992981" y="3086100"/>
            <a:ext cx="833247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Bookings</a:t>
            </a:r>
            <a:endParaRPr lang="en-US" sz="1125" dirty="0"/>
          </a:p>
        </p:txBody>
      </p:sp>
      <p:sp>
        <p:nvSpPr>
          <p:cNvPr id="22" name="Text 20"/>
          <p:cNvSpPr/>
          <p:nvPr/>
        </p:nvSpPr>
        <p:spPr>
          <a:xfrm>
            <a:off x="4084628" y="3103245"/>
            <a:ext cx="262601" cy="180023"/>
          </a:xfrm>
          <a:prstGeom prst="roundRect">
            <a:avLst>
              <a:gd name="adj" fmla="val 31746"/>
            </a:avLst>
          </a:prstGeom>
          <a:solidFill>
            <a:srgbClr val="34D399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095601" y="3112889"/>
            <a:ext cx="240655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12" kern="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OK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35794" y="3421856"/>
            <a:ext cx="3700463" cy="5428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7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checkPlanLimit(maxBookings)</a:t>
            </a:r>
            <a:pPr algn="l" indent="0" marL="0">
              <a:lnSpc>
                <a:spcPts val="1207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 Anti-double-booking: verifie creneau avant creation. Status management: pending → confirmed → completed. Sanitization de tous les champs user-input.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632722" y="2903934"/>
            <a:ext cx="4050506" cy="1835944"/>
          </a:xfrm>
          <a:prstGeom prst="roundRect">
            <a:avLst>
              <a:gd name="adj" fmla="val 6226"/>
            </a:avLst>
          </a:prstGeom>
          <a:solidFill>
            <a:srgbClr val="222639"/>
          </a:solidFill>
          <a:ln w="7144">
            <a:solidFill>
              <a:srgbClr val="33415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807744" y="3050381"/>
            <a:ext cx="285750" cy="285750"/>
          </a:xfrm>
          <a:prstGeom prst="roundRect">
            <a:avLst>
              <a:gd name="adj" fmla="val 33333"/>
            </a:avLst>
          </a:prstGeom>
          <a:solidFill>
            <a:srgbClr val="FBBF24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847034" y="3089672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FBBF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↻</a:t>
            </a:r>
            <a:endParaRPr lang="en-US" sz="1406" dirty="0"/>
          </a:p>
        </p:txBody>
      </p:sp>
      <p:sp>
        <p:nvSpPr>
          <p:cNvPr id="28" name="Text 26"/>
          <p:cNvSpPr/>
          <p:nvPr/>
        </p:nvSpPr>
        <p:spPr>
          <a:xfrm>
            <a:off x="5164931" y="3086100"/>
            <a:ext cx="539666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Sync</a:t>
            </a:r>
            <a:endParaRPr lang="en-US" sz="1125" dirty="0"/>
          </a:p>
        </p:txBody>
      </p:sp>
      <p:sp>
        <p:nvSpPr>
          <p:cNvPr id="29" name="Text 27"/>
          <p:cNvSpPr/>
          <p:nvPr/>
        </p:nvSpPr>
        <p:spPr>
          <a:xfrm>
            <a:off x="8256578" y="3103245"/>
            <a:ext cx="262601" cy="180023"/>
          </a:xfrm>
          <a:prstGeom prst="roundRect">
            <a:avLst>
              <a:gd name="adj" fmla="val 31746"/>
            </a:avLst>
          </a:prstGeom>
          <a:solidFill>
            <a:srgbClr val="34D399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8267551" y="3112889"/>
            <a:ext cx="240655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12" kern="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OK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807744" y="3421856"/>
            <a:ext cx="3700463" cy="361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7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checkPlanLimit(maxProducts)</a:t>
            </a:r>
            <a:pPr algn="l" indent="0" marL="0">
              <a:lnSpc>
                <a:spcPts val="1207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dans services_to_products. Deduplication par nom (case-insensitive). Incremental sync (create + update, pas delete).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8353838" y="4882753"/>
            <a:ext cx="4539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07 / 09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0050"/>
            <a:ext cx="8229600" cy="370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Corrections Techniques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60772" y="917972"/>
            <a:ext cx="4050506" cy="1695078"/>
          </a:xfrm>
          <a:prstGeom prst="roundRect">
            <a:avLst>
              <a:gd name="adj" fmla="val 6743"/>
            </a:avLst>
          </a:prstGeom>
          <a:solidFill>
            <a:srgbClr val="222639"/>
          </a:solidFill>
          <a:ln w="7144">
            <a:solidFill>
              <a:srgbClr val="33415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35794" y="110728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8717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5" name="Text 3"/>
          <p:cNvSpPr/>
          <p:nvPr/>
        </p:nvSpPr>
        <p:spPr>
          <a:xfrm>
            <a:off x="821531" y="1064419"/>
            <a:ext cx="3514725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Config Leak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635794" y="1364456"/>
            <a:ext cx="3700463" cy="146447"/>
          </a:xfrm>
          <a:prstGeom prst="roundRect">
            <a:avLst>
              <a:gd name="adj" fmla="val 26016"/>
            </a:avLst>
          </a:prstGeom>
          <a:solidFill>
            <a:srgbClr val="818CF8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35794" y="1364456"/>
            <a:ext cx="3700463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telegram-page.tsx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35794" y="1625203"/>
            <a:ext cx="370046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AVANT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35794" y="1828800"/>
            <a:ext cx="3700463" cy="2810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9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openEditAgent() lisait agent.openHours comme JSON pour extraire la config IA. Le champ aiConfig n'etait jamais lu. Type TelegramAgent ne contenait pas aiConfig.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35794" y="2137321"/>
            <a:ext cx="370046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APRES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35794" y="2340918"/>
            <a:ext cx="3700463" cy="1256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90"/>
              </a:lnSpc>
              <a:buNone/>
            </a:pPr>
            <a:r>
              <a:rPr lang="en-US" sz="619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openEditAgent() lit agent.aiConfig directement. Type TelegramAgent inclut aiConfig?: string | null.</a:t>
            </a:r>
            <a:endParaRPr lang="en-US" sz="619" dirty="0"/>
          </a:p>
        </p:txBody>
      </p:sp>
      <p:sp>
        <p:nvSpPr>
          <p:cNvPr id="12" name="Text 10"/>
          <p:cNvSpPr/>
          <p:nvPr/>
        </p:nvSpPr>
        <p:spPr>
          <a:xfrm>
            <a:off x="4632722" y="917972"/>
            <a:ext cx="4050506" cy="1695078"/>
          </a:xfrm>
          <a:prstGeom prst="roundRect">
            <a:avLst>
              <a:gd name="adj" fmla="val 6743"/>
            </a:avLst>
          </a:prstGeom>
          <a:solidFill>
            <a:srgbClr val="222639"/>
          </a:solidFill>
          <a:ln w="7144">
            <a:solidFill>
              <a:srgbClr val="33415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807744" y="110728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8717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14" name="Text 12"/>
          <p:cNvSpPr/>
          <p:nvPr/>
        </p:nvSpPr>
        <p:spPr>
          <a:xfrm>
            <a:off x="4993481" y="1064419"/>
            <a:ext cx="3514725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Missing Admin Guards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4807744" y="1364456"/>
            <a:ext cx="3700463" cy="264319"/>
          </a:xfrm>
          <a:prstGeom prst="roundRect">
            <a:avLst>
              <a:gd name="adj" fmla="val 14414"/>
            </a:avLst>
          </a:prstGeom>
          <a:solidFill>
            <a:srgbClr val="818CF8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807744" y="1364456"/>
            <a:ext cx="3700463" cy="351187"/>
          </a:xfrm>
          <a:prstGeom prst="rect">
            <a:avLst/>
          </a:prstGeom>
          <a:noFill/>
          <a:ln/>
        </p:spPr>
        <p:txBody>
          <a:bodyPr wrap="square" lIns="57150" tIns="14288" rIns="57150" bIns="14288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products/route.ts · automations/route.ts · campaigns/route.ts · contacts/route.ts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807744" y="1743075"/>
            <a:ext cx="370046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AVANT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807744" y="1946672"/>
            <a:ext cx="3700463" cy="1554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90"/>
              </a:lnSpc>
              <a:buNone/>
            </a:pPr>
            <a:r>
              <a:rPr lang="en-US" sz="619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POST/PATCH/DELETE accessibles par tout utilisateur authentifie.</a:t>
            </a:r>
            <a:endParaRPr lang="en-US" sz="619" dirty="0"/>
          </a:p>
        </p:txBody>
      </p:sp>
      <p:sp>
        <p:nvSpPr>
          <p:cNvPr id="19" name="Text 17"/>
          <p:cNvSpPr/>
          <p:nvPr/>
        </p:nvSpPr>
        <p:spPr>
          <a:xfrm>
            <a:off x="4807744" y="2129507"/>
            <a:ext cx="370046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APRES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807744" y="2333104"/>
            <a:ext cx="3700463" cy="1334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90"/>
              </a:lnSpc>
              <a:buNone/>
            </a:pPr>
            <a:r>
              <a:rPr lang="en-US" sz="619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Verification isAdmin = role === 'company_admin' || 'super_admin' avant chaque write.</a:t>
            </a:r>
            <a:endParaRPr lang="en-US" sz="619" dirty="0"/>
          </a:p>
        </p:txBody>
      </p:sp>
      <p:sp>
        <p:nvSpPr>
          <p:cNvPr id="21" name="Text 19"/>
          <p:cNvSpPr/>
          <p:nvPr/>
        </p:nvSpPr>
        <p:spPr>
          <a:xfrm>
            <a:off x="460772" y="2734494"/>
            <a:ext cx="4050506" cy="1569393"/>
          </a:xfrm>
          <a:prstGeom prst="roundRect">
            <a:avLst>
              <a:gd name="adj" fmla="val 7283"/>
            </a:avLst>
          </a:prstGeom>
          <a:solidFill>
            <a:srgbClr val="222639"/>
          </a:solidFill>
          <a:ln w="7144">
            <a:solidFill>
              <a:srgbClr val="33415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35794" y="292380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BBF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⚠</a:t>
            </a:r>
            <a:endParaRPr lang="en-US" sz="1266" dirty="0"/>
          </a:p>
        </p:txBody>
      </p:sp>
      <p:sp>
        <p:nvSpPr>
          <p:cNvPr id="23" name="Text 21"/>
          <p:cNvSpPr/>
          <p:nvPr/>
        </p:nvSpPr>
        <p:spPr>
          <a:xfrm>
            <a:off x="821531" y="2880940"/>
            <a:ext cx="3514725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SQL Incompatibilite</a:t>
            </a:r>
            <a:endParaRPr lang="en-US" sz="1125" dirty="0"/>
          </a:p>
        </p:txBody>
      </p:sp>
      <p:sp>
        <p:nvSpPr>
          <p:cNvPr id="24" name="Text 22"/>
          <p:cNvSpPr/>
          <p:nvPr/>
        </p:nvSpPr>
        <p:spPr>
          <a:xfrm>
            <a:off x="635794" y="3180978"/>
            <a:ext cx="3700463" cy="146447"/>
          </a:xfrm>
          <a:prstGeom prst="roundRect">
            <a:avLst>
              <a:gd name="adj" fmla="val 26016"/>
            </a:avLst>
          </a:prstGeom>
          <a:solidFill>
            <a:srgbClr val="818CF8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35794" y="3180978"/>
            <a:ext cx="3700463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dashboard/route.ts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35794" y="3441725"/>
            <a:ext cx="370046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AVANT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35794" y="3645322"/>
            <a:ext cx="3700463" cy="1554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9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NOW() - INTERVAL '6 days' (PostgreSQL only, crash SQLite).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35794" y="3828157"/>
            <a:ext cx="370046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APRES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35794" y="4031754"/>
            <a:ext cx="3700463" cy="1256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90"/>
              </a:lnSpc>
              <a:buNone/>
            </a:pPr>
            <a:r>
              <a:rPr lang="en-US" sz="619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Date pre-calculee en parametre $2 (compatible SQLite + PostgreSQL).</a:t>
            </a:r>
            <a:endParaRPr lang="en-US" sz="619" dirty="0"/>
          </a:p>
        </p:txBody>
      </p:sp>
      <p:sp>
        <p:nvSpPr>
          <p:cNvPr id="30" name="Text 28"/>
          <p:cNvSpPr/>
          <p:nvPr/>
        </p:nvSpPr>
        <p:spPr>
          <a:xfrm>
            <a:off x="4632722" y="2734494"/>
            <a:ext cx="4050506" cy="1569393"/>
          </a:xfrm>
          <a:prstGeom prst="roundRect">
            <a:avLst>
              <a:gd name="adj" fmla="val 7283"/>
            </a:avLst>
          </a:prstGeom>
          <a:solidFill>
            <a:srgbClr val="222639"/>
          </a:solidFill>
          <a:ln w="7144">
            <a:solidFill>
              <a:srgbClr val="33415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807744" y="292380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BBF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⚠</a:t>
            </a:r>
            <a:endParaRPr lang="en-US" sz="1266" dirty="0"/>
          </a:p>
        </p:txBody>
      </p:sp>
      <p:sp>
        <p:nvSpPr>
          <p:cNvPr id="32" name="Text 30"/>
          <p:cNvSpPr/>
          <p:nvPr/>
        </p:nvSpPr>
        <p:spPr>
          <a:xfrm>
            <a:off x="4993481" y="2880940"/>
            <a:ext cx="3514725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 Upgrade Validation</a:t>
            </a:r>
            <a:endParaRPr lang="en-US" sz="1125" dirty="0"/>
          </a:p>
        </p:txBody>
      </p:sp>
      <p:sp>
        <p:nvSpPr>
          <p:cNvPr id="33" name="Text 31"/>
          <p:cNvSpPr/>
          <p:nvPr/>
        </p:nvSpPr>
        <p:spPr>
          <a:xfrm>
            <a:off x="4807744" y="3180978"/>
            <a:ext cx="3700463" cy="146447"/>
          </a:xfrm>
          <a:prstGeom prst="roundRect">
            <a:avLst>
              <a:gd name="adj" fmla="val 26016"/>
            </a:avLst>
          </a:prstGeom>
          <a:solidFill>
            <a:srgbClr val="818CF8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807744" y="3180978"/>
            <a:ext cx="3700463" cy="204493"/>
          </a:xfrm>
          <a:prstGeom prst="rect">
            <a:avLst/>
          </a:prstGeom>
          <a:noFill/>
          <a:ln/>
        </p:spPr>
        <p:txBody>
          <a:bodyPr wrap="square" lIns="57150" tIns="14288" rIns="57150" bIns="14288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chariow/checkout/route.ts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807744" y="3441725"/>
            <a:ext cx="370046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AVANT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807744" y="3645322"/>
            <a:ext cx="3700463" cy="1554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9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Aucune verification que le plan cible est superieur.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807744" y="3828157"/>
            <a:ext cx="370046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APRES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807744" y="4031754"/>
            <a:ext cx="3700463" cy="1256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90"/>
              </a:lnSpc>
              <a:buNone/>
            </a:pPr>
            <a:r>
              <a:rPr lang="en-US" sz="619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PLAN_ORDER.indexOf() compare current vs target, bloque si target &lt;= current.</a:t>
            </a:r>
            <a:endParaRPr lang="en-US" sz="619" dirty="0"/>
          </a:p>
        </p:txBody>
      </p:sp>
      <p:sp>
        <p:nvSpPr>
          <p:cNvPr id="39" name="Text 37"/>
          <p:cNvSpPr/>
          <p:nvPr/>
        </p:nvSpPr>
        <p:spPr>
          <a:xfrm>
            <a:off x="8353838" y="4882753"/>
            <a:ext cx="4539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08 / 09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0050"/>
            <a:ext cx="8636000" cy="370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Conclusion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60772" y="917972"/>
            <a:ext cx="1985963" cy="639366"/>
          </a:xfrm>
          <a:prstGeom prst="roundRect">
            <a:avLst>
              <a:gd name="adj" fmla="val 14898"/>
            </a:avLst>
          </a:prstGeom>
          <a:solidFill>
            <a:srgbClr val="1A1D27"/>
          </a:solidFill>
          <a:ln w="7144">
            <a:solidFill>
              <a:srgbClr val="33415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7219" y="1035844"/>
            <a:ext cx="1693069" cy="2583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2025"/>
              </a:lnSpc>
              <a:buNone/>
            </a:pPr>
            <a:r>
              <a:rPr lang="en-US" sz="2025" b="1" dirty="0">
                <a:solidFill>
                  <a:srgbClr val="F8717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2025" dirty="0"/>
          </a:p>
        </p:txBody>
      </p:sp>
      <p:sp>
        <p:nvSpPr>
          <p:cNvPr id="5" name="Text 3"/>
          <p:cNvSpPr/>
          <p:nvPr/>
        </p:nvSpPr>
        <p:spPr>
          <a:xfrm>
            <a:off x="607219" y="1321594"/>
            <a:ext cx="1693069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bugs critiques corriges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539603" y="917972"/>
            <a:ext cx="1985963" cy="639366"/>
          </a:xfrm>
          <a:prstGeom prst="roundRect">
            <a:avLst>
              <a:gd name="adj" fmla="val 14898"/>
            </a:avLst>
          </a:prstGeom>
          <a:solidFill>
            <a:srgbClr val="1A1D27"/>
          </a:solidFill>
          <a:ln w="7144">
            <a:solidFill>
              <a:srgbClr val="33415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686050" y="1035844"/>
            <a:ext cx="1693069" cy="2583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2025"/>
              </a:lnSpc>
              <a:buNone/>
            </a:pPr>
            <a:r>
              <a:rPr lang="en-US" sz="2025" b="1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2025" dirty="0"/>
          </a:p>
        </p:txBody>
      </p:sp>
      <p:sp>
        <p:nvSpPr>
          <p:cNvPr id="8" name="Text 6"/>
          <p:cNvSpPr/>
          <p:nvPr/>
        </p:nvSpPr>
        <p:spPr>
          <a:xfrm>
            <a:off x="2686050" y="1321594"/>
            <a:ext cx="1693069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bugs moyens corriges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618434" y="917972"/>
            <a:ext cx="1985963" cy="639366"/>
          </a:xfrm>
          <a:prstGeom prst="roundRect">
            <a:avLst>
              <a:gd name="adj" fmla="val 14898"/>
            </a:avLst>
          </a:prstGeom>
          <a:solidFill>
            <a:srgbClr val="1A1D27"/>
          </a:solidFill>
          <a:ln w="7144">
            <a:solidFill>
              <a:srgbClr val="33415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764881" y="1035844"/>
            <a:ext cx="1693069" cy="2583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2025"/>
              </a:lnSpc>
              <a:buNone/>
            </a:pPr>
            <a:r>
              <a:rPr lang="en-US" sz="2025" b="1" dirty="0">
                <a:solidFill>
                  <a:srgbClr val="818C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13</a:t>
            </a:r>
            <a:endParaRPr lang="en-US" sz="2025" dirty="0"/>
          </a:p>
        </p:txBody>
      </p:sp>
      <p:sp>
        <p:nvSpPr>
          <p:cNvPr id="11" name="Text 9"/>
          <p:cNvSpPr/>
          <p:nvPr/>
        </p:nvSpPr>
        <p:spPr>
          <a:xfrm>
            <a:off x="4764881" y="1321594"/>
            <a:ext cx="1693069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modules testes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697266" y="917972"/>
            <a:ext cx="1985963" cy="639366"/>
          </a:xfrm>
          <a:prstGeom prst="roundRect">
            <a:avLst>
              <a:gd name="adj" fmla="val 14898"/>
            </a:avLst>
          </a:prstGeom>
          <a:solidFill>
            <a:srgbClr val="1A1D27"/>
          </a:solidFill>
          <a:ln w="7144">
            <a:solidFill>
              <a:srgbClr val="33415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843713" y="1035844"/>
            <a:ext cx="1693069" cy="2583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2025"/>
              </a:lnSpc>
              <a:buNone/>
            </a:pPr>
            <a:r>
              <a:rPr lang="en-US" sz="2025" b="1" dirty="0">
                <a:solidFill>
                  <a:srgbClr val="34D39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</a:t>
            </a:r>
            <a:endParaRPr lang="en-US" sz="2025" dirty="0"/>
          </a:p>
        </p:txBody>
      </p:sp>
      <p:sp>
        <p:nvSpPr>
          <p:cNvPr id="14" name="Text 12"/>
          <p:cNvSpPr/>
          <p:nvPr/>
        </p:nvSpPr>
        <p:spPr>
          <a:xfrm>
            <a:off x="6843713" y="1321594"/>
            <a:ext cx="1693069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bug critique restant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0507" y="1760934"/>
            <a:ext cx="1095280" cy="169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Points Forts</a:t>
            </a:r>
            <a:endParaRPr lang="en-US" sz="1125" dirty="0"/>
          </a:p>
        </p:txBody>
      </p:sp>
      <p:sp>
        <p:nvSpPr>
          <p:cNvPr id="16" name="Text 14"/>
          <p:cNvSpPr/>
          <p:nvPr/>
        </p:nvSpPr>
        <p:spPr>
          <a:xfrm>
            <a:off x="457200" y="1768078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34D39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406" dirty="0"/>
          </a:p>
        </p:txBody>
      </p:sp>
      <p:sp>
        <p:nvSpPr>
          <p:cNvPr id="17" name="Text 15"/>
          <p:cNvSpPr/>
          <p:nvPr/>
        </p:nvSpPr>
        <p:spPr>
          <a:xfrm>
            <a:off x="457200" y="2032397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34D39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628650" y="2018109"/>
            <a:ext cx="3871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Architecture RBAC solide avec separation admin/agent/viewer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57200" y="2214563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34D39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25" dirty="0"/>
          </a:p>
        </p:txBody>
      </p:sp>
      <p:sp>
        <p:nvSpPr>
          <p:cNvPr id="20" name="Text 18"/>
          <p:cNvSpPr/>
          <p:nvPr/>
        </p:nvSpPr>
        <p:spPr>
          <a:xfrm>
            <a:off x="628650" y="2200275"/>
            <a:ext cx="3871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JWT synchronise sur middleware + auth + route (plus de token mismatch)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57200" y="2396728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34D39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25" dirty="0"/>
          </a:p>
        </p:txBody>
      </p:sp>
      <p:sp>
        <p:nvSpPr>
          <p:cNvPr id="22" name="Text 20"/>
          <p:cNvSpPr/>
          <p:nvPr/>
        </p:nvSpPr>
        <p:spPr>
          <a:xfrm>
            <a:off x="628650" y="2382441"/>
            <a:ext cx="3871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Plan limits centralises et enforce sur toutes les ressources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57200" y="2578894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34D39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25" dirty="0"/>
          </a:p>
        </p:txBody>
      </p:sp>
      <p:sp>
        <p:nvSpPr>
          <p:cNvPr id="24" name="Text 22"/>
          <p:cNvSpPr/>
          <p:nvPr/>
        </p:nvSpPr>
        <p:spPr>
          <a:xfrm>
            <a:off x="628650" y="2564606"/>
            <a:ext cx="3871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Webhook Chariow securise (timing-safe, anti-downgrade, idempotent)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57200" y="2761059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34D39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25" dirty="0"/>
          </a:p>
        </p:txBody>
      </p:sp>
      <p:sp>
        <p:nvSpPr>
          <p:cNvPr id="26" name="Text 24"/>
          <p:cNvSpPr/>
          <p:nvPr/>
        </p:nvSpPr>
        <p:spPr>
          <a:xfrm>
            <a:off x="628650" y="2746772"/>
            <a:ext cx="3871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Rate limiting sur login et inscription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57200" y="2943225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34D39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25" dirty="0"/>
          </a:p>
        </p:txBody>
      </p:sp>
      <p:sp>
        <p:nvSpPr>
          <p:cNvPr id="28" name="Text 26"/>
          <p:cNvSpPr/>
          <p:nvPr/>
        </p:nvSpPr>
        <p:spPr>
          <a:xfrm>
            <a:off x="628650" y="2928938"/>
            <a:ext cx="3871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Sanitisation XSS sur tous les champs user-input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843463" y="1760934"/>
            <a:ext cx="2074339" cy="169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Actions Recommandees</a:t>
            </a:r>
            <a:endParaRPr lang="en-US" sz="1125" dirty="0"/>
          </a:p>
        </p:txBody>
      </p:sp>
      <p:sp>
        <p:nvSpPr>
          <p:cNvPr id="30" name="Text 28"/>
          <p:cNvSpPr/>
          <p:nvPr/>
        </p:nvSpPr>
        <p:spPr>
          <a:xfrm>
            <a:off x="4643438" y="1768078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FBBF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406" dirty="0"/>
          </a:p>
        </p:txBody>
      </p:sp>
      <p:sp>
        <p:nvSpPr>
          <p:cNvPr id="31" name="Text 29"/>
          <p:cNvSpPr/>
          <p:nvPr/>
        </p:nvSpPr>
        <p:spPr>
          <a:xfrm>
            <a:off x="4643438" y="2018109"/>
            <a:ext cx="4245531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Deferees post-lancement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643438" y="2221706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FBBF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▶</a:t>
            </a:r>
            <a:endParaRPr lang="en-US" sz="1125" dirty="0"/>
          </a:p>
        </p:txBody>
      </p:sp>
      <p:sp>
        <p:nvSpPr>
          <p:cNvPr id="33" name="Text 31"/>
          <p:cNvSpPr/>
          <p:nvPr/>
        </p:nvSpPr>
        <p:spPr>
          <a:xfrm>
            <a:off x="4814888" y="2207419"/>
            <a:ext cx="3871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Migrer middleware.ts vers proxy.ts (Next.js 16 deprecation)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643438" y="2403872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FBBF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▶</a:t>
            </a:r>
            <a:endParaRPr lang="en-US" sz="1125" dirty="0"/>
          </a:p>
        </p:txBody>
      </p:sp>
      <p:sp>
        <p:nvSpPr>
          <p:cNvPr id="35" name="Text 33"/>
          <p:cNvSpPr/>
          <p:nvPr/>
        </p:nvSpPr>
        <p:spPr>
          <a:xfrm>
            <a:off x="4814888" y="2389584"/>
            <a:ext cx="3871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Implementer rate limiting serverless (Upstash Redis / Vercel KV)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643438" y="2586038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FBBF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▶</a:t>
            </a:r>
            <a:endParaRPr lang="en-US" sz="1125" dirty="0"/>
          </a:p>
        </p:txBody>
      </p:sp>
      <p:sp>
        <p:nvSpPr>
          <p:cNvPr id="37" name="Text 35"/>
          <p:cNvSpPr/>
          <p:nvPr/>
        </p:nvSpPr>
        <p:spPr>
          <a:xfrm>
            <a:off x="4814888" y="2571750"/>
            <a:ext cx="3871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Migration Float → Decimal pour les prix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643438" y="2768203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FBBF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▶</a:t>
            </a:r>
            <a:endParaRPr lang="en-US" sz="1125" dirty="0"/>
          </a:p>
        </p:txBody>
      </p:sp>
      <p:sp>
        <p:nvSpPr>
          <p:cNvPr id="39" name="Text 37"/>
          <p:cNvSpPr/>
          <p:nvPr/>
        </p:nvSpPr>
        <p:spPr>
          <a:xfrm>
            <a:off x="4814888" y="2753916"/>
            <a:ext cx="3871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Corriger les 16 issues MEDIUM securite reportees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8353838" y="4882753"/>
            <a:ext cx="4539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09 / 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1488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818CF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👍</a:t>
            </a:r>
            <a:endParaRPr lang="en-US" sz="1969" dirty="0"/>
          </a:p>
        </p:txBody>
      </p:sp>
      <p:sp>
        <p:nvSpPr>
          <p:cNvPr id="3" name="Text 1"/>
          <p:cNvSpPr/>
          <p:nvPr/>
        </p:nvSpPr>
        <p:spPr>
          <a:xfrm>
            <a:off x="742950" y="400050"/>
            <a:ext cx="4554643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Recommandations pour la Production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699708" y="481489"/>
            <a:ext cx="925004" cy="180023"/>
          </a:xfrm>
          <a:prstGeom prst="roundRect">
            <a:avLst>
              <a:gd name="adj" fmla="val 31746"/>
            </a:avLst>
          </a:prstGeom>
          <a:solidFill>
            <a:srgbClr val="F87171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699708" y="491133"/>
            <a:ext cx="925004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12" kern="0" dirty="0">
                <a:solidFill>
                  <a:srgbClr val="F8717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 Priorité Haute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681862" y="491133"/>
            <a:ext cx="1022784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12" kern="0" dirty="0">
                <a:solidFill>
                  <a:srgbClr val="F1F5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 Priorité Moyenne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61796" y="481489"/>
            <a:ext cx="925004" cy="180023"/>
          </a:xfrm>
          <a:prstGeom prst="roundRect">
            <a:avLst>
              <a:gd name="adj" fmla="val 31746"/>
            </a:avLst>
          </a:prstGeom>
          <a:solidFill>
            <a:srgbClr val="818CF8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761796" y="491133"/>
            <a:ext cx="925004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12" kern="0" dirty="0">
                <a:solidFill>
                  <a:srgbClr val="818C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 Priorité Basse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885825"/>
            <a:ext cx="2647876" cy="3357563"/>
          </a:xfrm>
          <a:prstGeom prst="roundRect">
            <a:avLst>
              <a:gd name="adj" fmla="val 4317"/>
            </a:avLst>
          </a:prstGeom>
          <a:solidFill>
            <a:srgbClr val="22263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3101504" y="885825"/>
            <a:ext cx="0" cy="3357563"/>
          </a:xfrm>
          <a:prstGeom prst="line">
            <a:avLst/>
          </a:prstGeom>
          <a:noFill/>
          <a:ln w="7144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4239816"/>
            <a:ext cx="2647876" cy="0"/>
          </a:xfrm>
          <a:prstGeom prst="line">
            <a:avLst/>
          </a:prstGeom>
          <a:noFill/>
          <a:ln w="7144">
            <a:solidFill>
              <a:srgbClr val="3341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0772" y="885825"/>
            <a:ext cx="0" cy="3357563"/>
          </a:xfrm>
          <a:prstGeom prst="line">
            <a:avLst/>
          </a:prstGeom>
          <a:noFill/>
          <a:ln w="7144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7219" y="1037630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F1F5F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⊗</a:t>
            </a:r>
            <a:endParaRPr lang="en-US" sz="1406" dirty="0"/>
          </a:p>
        </p:txBody>
      </p:sp>
      <p:sp>
        <p:nvSpPr>
          <p:cNvPr id="14" name="Text 12"/>
          <p:cNvSpPr/>
          <p:nvPr/>
        </p:nvSpPr>
        <p:spPr>
          <a:xfrm>
            <a:off x="807244" y="1028700"/>
            <a:ext cx="2147813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b="1" spc="28" kern="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PRIORITÉ HAUTE</a:t>
            </a:r>
            <a:endParaRPr lang="en-US" sz="844" dirty="0"/>
          </a:p>
        </p:txBody>
      </p:sp>
      <p:sp>
        <p:nvSpPr>
          <p:cNvPr id="15" name="Text 13"/>
          <p:cNvSpPr/>
          <p:nvPr/>
        </p:nvSpPr>
        <p:spPr>
          <a:xfrm>
            <a:off x="607219" y="1275159"/>
            <a:ext cx="205740" cy="3071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F1F5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1.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92956" y="1275159"/>
            <a:ext cx="2162101" cy="307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3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Migrer rate limiting vers Upstash Redis ou Vercel KV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07219" y="1640830"/>
            <a:ext cx="205740" cy="3071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F1F5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2.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792956" y="1640830"/>
            <a:ext cx="2162101" cy="307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3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Ajouter logging structuré (pino/winston) pour audit trail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07219" y="2006501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F1F5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3.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92956" y="2006501"/>
            <a:ext cx="227182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3"/>
              </a:lnSpc>
              <a:buNone/>
            </a:pPr>
            <a:r>
              <a:rPr lang="en-US" sz="788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Implémenter CSRF protection sur les mutations</a:t>
            </a:r>
            <a:endParaRPr lang="en-US" sz="788" dirty="0"/>
          </a:p>
        </p:txBody>
      </p:sp>
      <p:sp>
        <p:nvSpPr>
          <p:cNvPr id="21" name="Text 19"/>
          <p:cNvSpPr/>
          <p:nvPr/>
        </p:nvSpPr>
        <p:spPr>
          <a:xfrm>
            <a:off x="607219" y="2242245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F1F5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4.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92956" y="2242245"/>
            <a:ext cx="216210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3"/>
              </a:lnSpc>
              <a:buNone/>
            </a:pPr>
            <a:r>
              <a:rPr lang="en-US" sz="788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Ajouter Content-Security-Policy headers</a:t>
            </a:r>
            <a:endParaRPr lang="en-US" sz="788" dirty="0"/>
          </a:p>
        </p:txBody>
      </p:sp>
      <p:sp>
        <p:nvSpPr>
          <p:cNvPr id="23" name="Text 21"/>
          <p:cNvSpPr/>
          <p:nvPr/>
        </p:nvSpPr>
        <p:spPr>
          <a:xfrm>
            <a:off x="3247951" y="885825"/>
            <a:ext cx="2647987" cy="3357563"/>
          </a:xfrm>
          <a:prstGeom prst="roundRect">
            <a:avLst>
              <a:gd name="adj" fmla="val 4316"/>
            </a:avLst>
          </a:prstGeom>
          <a:solidFill>
            <a:srgbClr val="22263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5892366" y="885825"/>
            <a:ext cx="0" cy="3357563"/>
          </a:xfrm>
          <a:prstGeom prst="line">
            <a:avLst/>
          </a:prstGeom>
          <a:noFill/>
          <a:ln w="7144">
            <a:solidFill>
              <a:srgbClr val="33415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47951" y="4239816"/>
            <a:ext cx="2647987" cy="0"/>
          </a:xfrm>
          <a:prstGeom prst="line">
            <a:avLst/>
          </a:prstGeom>
          <a:noFill/>
          <a:ln w="7144">
            <a:solidFill>
              <a:srgbClr val="33415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51522" y="885825"/>
            <a:ext cx="0" cy="3357563"/>
          </a:xfrm>
          <a:prstGeom prst="line">
            <a:avLst/>
          </a:prstGeom>
          <a:noFill/>
          <a:ln w="7144">
            <a:solidFill>
              <a:srgbClr val="3341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97969" y="1037630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F1F5F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⚠</a:t>
            </a:r>
            <a:endParaRPr lang="en-US" sz="1406" dirty="0"/>
          </a:p>
        </p:txBody>
      </p:sp>
      <p:sp>
        <p:nvSpPr>
          <p:cNvPr id="28" name="Text 26"/>
          <p:cNvSpPr/>
          <p:nvPr/>
        </p:nvSpPr>
        <p:spPr>
          <a:xfrm>
            <a:off x="3597994" y="1028700"/>
            <a:ext cx="2147925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b="1" spc="28" kern="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PRIORITÉ MOYENNE</a:t>
            </a:r>
            <a:endParaRPr lang="en-US" sz="844" dirty="0"/>
          </a:p>
        </p:txBody>
      </p:sp>
      <p:sp>
        <p:nvSpPr>
          <p:cNvPr id="29" name="Text 27"/>
          <p:cNvSpPr/>
          <p:nvPr/>
        </p:nvSpPr>
        <p:spPr>
          <a:xfrm>
            <a:off x="3397969" y="1275159"/>
            <a:ext cx="205740" cy="3071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F1F5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5.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583707" y="1275159"/>
            <a:ext cx="2162212" cy="307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3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Migrer Float vers Decimal pour les prix (post-lancement)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397969" y="1640830"/>
            <a:ext cx="205740" cy="3071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F1F5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6.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583707" y="1640830"/>
            <a:ext cx="2162212" cy="307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3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Ajouter des tests unitaires pour les guards de sécurité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397969" y="2006501"/>
            <a:ext cx="205740" cy="3071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F1F5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7.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583707" y="2006501"/>
            <a:ext cx="2162212" cy="307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3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Implémenter IP-based rate limiting pour /api/auth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397969" y="2372171"/>
            <a:ext cx="205740" cy="3071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F1F5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8.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583707" y="2372171"/>
            <a:ext cx="2162212" cy="307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3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Ajouter webhook signature verification pour Chariow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038813" y="885825"/>
            <a:ext cx="2647876" cy="3357563"/>
          </a:xfrm>
          <a:prstGeom prst="roundRect">
            <a:avLst>
              <a:gd name="adj" fmla="val 4317"/>
            </a:avLst>
          </a:prstGeom>
          <a:solidFill>
            <a:srgbClr val="22263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Shape 36"/>
          <p:cNvSpPr/>
          <p:nvPr/>
        </p:nvSpPr>
        <p:spPr>
          <a:xfrm>
            <a:off x="6038813" y="896541"/>
            <a:ext cx="2647876" cy="0"/>
          </a:xfrm>
          <a:prstGeom prst="line">
            <a:avLst/>
          </a:prstGeom>
          <a:noFill/>
          <a:ln w="21431">
            <a:solidFill>
              <a:srgbClr val="818CF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683117" y="885825"/>
            <a:ext cx="0" cy="3357563"/>
          </a:xfrm>
          <a:prstGeom prst="line">
            <a:avLst/>
          </a:prstGeom>
          <a:noFill/>
          <a:ln w="7144">
            <a:solidFill>
              <a:srgbClr val="33415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038813" y="4239816"/>
            <a:ext cx="2647876" cy="0"/>
          </a:xfrm>
          <a:prstGeom prst="line">
            <a:avLst/>
          </a:prstGeom>
          <a:noFill/>
          <a:ln w="7144">
            <a:solidFill>
              <a:srgbClr val="33415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042385" y="885825"/>
            <a:ext cx="0" cy="3357563"/>
          </a:xfrm>
          <a:prstGeom prst="line">
            <a:avLst/>
          </a:prstGeom>
          <a:noFill/>
          <a:ln w="7144">
            <a:solidFill>
              <a:srgbClr val="33415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188832" y="1059061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818CF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ⓘ</a:t>
            </a:r>
            <a:endParaRPr lang="en-US" sz="1406" dirty="0"/>
          </a:p>
        </p:txBody>
      </p:sp>
      <p:sp>
        <p:nvSpPr>
          <p:cNvPr id="43" name="Text 41"/>
          <p:cNvSpPr/>
          <p:nvPr/>
        </p:nvSpPr>
        <p:spPr>
          <a:xfrm>
            <a:off x="6388857" y="1050131"/>
            <a:ext cx="2147813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b="1" spc="28" kern="0" dirty="0">
                <a:solidFill>
                  <a:srgbClr val="818C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PRIORITÉ BASSE</a:t>
            </a:r>
            <a:endParaRPr lang="en-US" sz="844" dirty="0"/>
          </a:p>
        </p:txBody>
      </p:sp>
      <p:sp>
        <p:nvSpPr>
          <p:cNvPr id="44" name="Text 42"/>
          <p:cNvSpPr/>
          <p:nvPr/>
        </p:nvSpPr>
        <p:spPr>
          <a:xfrm>
            <a:off x="6188832" y="1296591"/>
            <a:ext cx="205740" cy="3071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818C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9.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374569" y="1296591"/>
            <a:ext cx="2162101" cy="307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3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Ajouter pagination cursor-based pour les grandes collections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188832" y="1662261"/>
            <a:ext cx="28914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818C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10.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6426696" y="1662261"/>
            <a:ext cx="210673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3"/>
              </a:lnSpc>
              <a:buNone/>
            </a:pPr>
            <a:r>
              <a:rPr lang="en-US" sz="788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Implémenter soft-delete universel (isActive flag)</a:t>
            </a:r>
            <a:endParaRPr lang="en-US" sz="788" dirty="0"/>
          </a:p>
        </p:txBody>
      </p:sp>
      <p:sp>
        <p:nvSpPr>
          <p:cNvPr id="48" name="Text 46"/>
          <p:cNvSpPr/>
          <p:nvPr/>
        </p:nvSpPr>
        <p:spPr>
          <a:xfrm>
            <a:off x="6188832" y="1898005"/>
            <a:ext cx="249495" cy="3071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818C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11.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401916" y="1898005"/>
            <a:ext cx="2134753" cy="307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3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Ajouter audit log automatique pour les actions sensibles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188832" y="2263676"/>
            <a:ext cx="28914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818C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12.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426696" y="2263676"/>
            <a:ext cx="215532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3"/>
              </a:lnSpc>
              <a:buNone/>
            </a:pPr>
            <a:r>
              <a:rPr lang="en-US" sz="788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Migrer vers edge runtime Vercel pour latence</a:t>
            </a:r>
            <a:endParaRPr lang="en-US" sz="788" dirty="0"/>
          </a:p>
        </p:txBody>
      </p:sp>
      <p:sp>
        <p:nvSpPr>
          <p:cNvPr id="52" name="Text 50"/>
          <p:cNvSpPr/>
          <p:nvPr/>
        </p:nvSpPr>
        <p:spPr>
          <a:xfrm>
            <a:off x="460772" y="4361259"/>
            <a:ext cx="8222456" cy="378619"/>
          </a:xfrm>
          <a:prstGeom prst="roundRect">
            <a:avLst>
              <a:gd name="adj" fmla="val 25157"/>
            </a:avLst>
          </a:prstGeom>
          <a:solidFill>
            <a:srgbClr val="10B981">
              <a:alpha val="8000"/>
            </a:srgbClr>
          </a:solidFill>
          <a:ln w="7144">
            <a:solidFill>
              <a:srgbClr val="10B98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635794" y="4471988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547" dirty="0"/>
          </a:p>
        </p:txBody>
      </p:sp>
      <p:sp>
        <p:nvSpPr>
          <p:cNvPr id="54" name="Text 52"/>
          <p:cNvSpPr/>
          <p:nvPr/>
        </p:nvSpPr>
        <p:spPr>
          <a:xfrm>
            <a:off x="878681" y="4464844"/>
            <a:ext cx="284379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22D3E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Statut: PRET POUR LANCEMENT PUBLICITAIRE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5457267" y="4480917"/>
            <a:ext cx="3050939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Les priorités hautes peuvent être traitées itérativement après le lancement</a:t>
            </a:r>
            <a:endParaRPr lang="en-US" sz="731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571500" y="-857250"/>
            <a:ext cx="2857500" cy="2857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-571500" y="-857250"/>
            <a:ext cx="2857500" cy="2857500"/>
          </a:xfrm>
          <a:prstGeom prst="ellipse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2313" y="3357563"/>
            <a:ext cx="2500313" cy="250031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072313" y="3357563"/>
            <a:ext cx="2500313" cy="2500313"/>
          </a:xfrm>
          <a:prstGeom prst="ellipse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2"/>
          <p:cNvSpPr/>
          <p:nvPr/>
        </p:nvSpPr>
        <p:spPr>
          <a:xfrm>
            <a:off x="4314825" y="785143"/>
            <a:ext cx="514350" cy="514350"/>
          </a:xfrm>
          <a:prstGeom prst="roundRect">
            <a:avLst>
              <a:gd name="adj" fmla="val 18519"/>
            </a:avLst>
          </a:prstGeom>
          <a:solidFill>
            <a:srgbClr val="10B981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4364831" y="835149"/>
            <a:ext cx="414338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13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2813" dirty="0"/>
          </a:p>
        </p:txBody>
      </p:sp>
      <p:sp>
        <p:nvSpPr>
          <p:cNvPr id="8" name="Text 4"/>
          <p:cNvSpPr/>
          <p:nvPr/>
        </p:nvSpPr>
        <p:spPr>
          <a:xfrm>
            <a:off x="274320" y="1470943"/>
            <a:ext cx="8595248" cy="43825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3218"/>
              </a:lnSpc>
              <a:buNone/>
            </a:pPr>
            <a:r>
              <a:rPr lang="en-US" sz="2925" b="1" spc="-56" kern="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PRET POUR LE LANCEMENT</a:t>
            </a:r>
            <a:endParaRPr lang="en-US" sz="2925" dirty="0"/>
          </a:p>
        </p:txBody>
      </p:sp>
      <p:sp>
        <p:nvSpPr>
          <p:cNvPr id="9" name="Text 5"/>
          <p:cNvSpPr/>
          <p:nvPr/>
        </p:nvSpPr>
        <p:spPr>
          <a:xfrm>
            <a:off x="3673180" y="1936626"/>
            <a:ext cx="1797529" cy="254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56"/>
              </a:lnSpc>
              <a:buNone/>
            </a:pPr>
            <a:r>
              <a:rPr lang="en-US" sz="1238" dirty="0">
                <a:solidFill>
                  <a:srgbClr val="22D3E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 faille critique ouverte</a:t>
            </a:r>
            <a:endParaRPr lang="en-US" sz="1238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2515270"/>
            <a:ext cx="2133526" cy="70723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46572" y="2518842"/>
            <a:ext cx="2126382" cy="700088"/>
          </a:xfrm>
          <a:prstGeom prst="roundRect">
            <a:avLst>
              <a:gd name="adj" fmla="val 16327"/>
            </a:avLst>
          </a:prstGeom>
          <a:noFill/>
          <a:ln w="7144">
            <a:solidFill>
              <a:srgbClr val="33415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7"/>
          <p:cNvSpPr/>
          <p:nvPr/>
        </p:nvSpPr>
        <p:spPr>
          <a:xfrm>
            <a:off x="2054598" y="2693863"/>
            <a:ext cx="310217" cy="1725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818C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25+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1570245" y="2893888"/>
            <a:ext cx="1278923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788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Modules audites et verifies</a:t>
            </a:r>
            <a:endParaRPr lang="en-US" sz="788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5126" y="2515270"/>
            <a:ext cx="2133637" cy="707231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3508697" y="2518842"/>
            <a:ext cx="2126493" cy="700088"/>
          </a:xfrm>
          <a:prstGeom prst="roundRect">
            <a:avLst>
              <a:gd name="adj" fmla="val 16327"/>
            </a:avLst>
          </a:prstGeom>
          <a:noFill/>
          <a:ln w="7144">
            <a:solidFill>
              <a:srgbClr val="33415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0"/>
          <p:cNvSpPr/>
          <p:nvPr/>
        </p:nvSpPr>
        <p:spPr>
          <a:xfrm>
            <a:off x="4520989" y="2693863"/>
            <a:ext cx="101798" cy="1725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1F5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</a:t>
            </a:r>
            <a:endParaRPr lang="en-US" sz="900" dirty="0"/>
          </a:p>
        </p:txBody>
      </p:sp>
      <p:sp>
        <p:nvSpPr>
          <p:cNvPr id="17" name="Text 11"/>
          <p:cNvSpPr/>
          <p:nvPr/>
        </p:nvSpPr>
        <p:spPr>
          <a:xfrm>
            <a:off x="3734418" y="2893888"/>
            <a:ext cx="1675053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788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Bugs critiques corriges et deployes</a:t>
            </a:r>
            <a:endParaRPr lang="en-US" sz="788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7363" y="2515270"/>
            <a:ext cx="2133526" cy="707231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870935" y="2518842"/>
            <a:ext cx="2126382" cy="700088"/>
          </a:xfrm>
          <a:prstGeom prst="roundRect">
            <a:avLst>
              <a:gd name="adj" fmla="val 16327"/>
            </a:avLst>
          </a:prstGeom>
          <a:noFill/>
          <a:ln w="7144">
            <a:solidFill>
              <a:srgbClr val="33415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3"/>
          <p:cNvSpPr/>
          <p:nvPr/>
        </p:nvSpPr>
        <p:spPr>
          <a:xfrm>
            <a:off x="6700201" y="2693863"/>
            <a:ext cx="467737" cy="1725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22D3E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100%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6362330" y="2893888"/>
            <a:ext cx="114348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788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Plan limits enforcement</a:t>
            </a:r>
            <a:endParaRPr lang="en-US" sz="788" dirty="0"/>
          </a:p>
        </p:txBody>
      </p:sp>
      <p:sp>
        <p:nvSpPr>
          <p:cNvPr id="22" name="Text 15"/>
          <p:cNvSpPr/>
          <p:nvPr/>
        </p:nvSpPr>
        <p:spPr>
          <a:xfrm>
            <a:off x="2699891" y="3511823"/>
            <a:ext cx="3744218" cy="300038"/>
          </a:xfrm>
          <a:prstGeom prst="roundRect">
            <a:avLst>
              <a:gd name="adj" fmla="val 3171423"/>
            </a:avLst>
          </a:prstGeom>
          <a:solidFill>
            <a:srgbClr val="10B981">
              <a:alpha val="10000"/>
            </a:srgbClr>
          </a:solidFill>
          <a:ln w="7144">
            <a:solidFill>
              <a:srgbClr val="10B98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16"/>
          <p:cNvSpPr/>
          <p:nvPr/>
        </p:nvSpPr>
        <p:spPr>
          <a:xfrm>
            <a:off x="2874913" y="359754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➤</a:t>
            </a:r>
            <a:endParaRPr lang="en-US" sz="1266" dirty="0"/>
          </a:p>
        </p:txBody>
      </p:sp>
      <p:sp>
        <p:nvSpPr>
          <p:cNvPr id="24" name="Text 17"/>
          <p:cNvSpPr/>
          <p:nvPr/>
        </p:nvSpPr>
        <p:spPr>
          <a:xfrm>
            <a:off x="2892549" y="3586832"/>
            <a:ext cx="1681014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22D3E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DEPLOYE EN PRODUCTION</a:t>
            </a:r>
            <a:endParaRPr lang="en-US" sz="800" dirty="0"/>
          </a:p>
        </p:txBody>
      </p:sp>
      <p:sp>
        <p:nvSpPr>
          <p:cNvPr id="25" name="Text 18"/>
          <p:cNvSpPr/>
          <p:nvPr/>
        </p:nvSpPr>
        <p:spPr>
          <a:xfrm>
            <a:off x="4390352" y="3597548"/>
            <a:ext cx="1950994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— my-project-eight-xi-94.vercel.app</a:t>
            </a:r>
            <a:endParaRPr lang="en-US" sz="675" dirty="0"/>
          </a:p>
        </p:txBody>
      </p:sp>
      <p:sp>
        <p:nvSpPr>
          <p:cNvPr id="26" name="Text 19"/>
          <p:cNvSpPr/>
          <p:nvPr/>
        </p:nvSpPr>
        <p:spPr>
          <a:xfrm>
            <a:off x="2000250" y="4015457"/>
            <a:ext cx="514350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844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L'application ChatCommerce CRM Africa est securisee et prete pour le lancement des campagnes publicitaires. Toutes les vulnerabilités critiques ont ete corrigees et deployees en production.</a:t>
            </a:r>
            <a:endParaRPr lang="en-US" sz="844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2026-08-12T12:00:31Z</dcterms:created>
  <dcterms:modified xsi:type="dcterms:W3CDTF">2026-08-12T12:00:31Z</dcterms:modified>
</cp:coreProperties>
</file>